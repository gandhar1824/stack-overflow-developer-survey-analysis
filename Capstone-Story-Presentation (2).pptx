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12192000" cy="6858000"/>
  <p:notesSz cx="6858000" cy="1857375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2C3"/>
    <a:srgbClr val="007D79"/>
    <a:srgbClr val="D02670"/>
    <a:srgbClr val="231F20"/>
    <a:srgbClr val="33B1FF"/>
    <a:srgbClr val="262626"/>
    <a:srgbClr val="525252"/>
    <a:srgbClr val="BE95FF"/>
    <a:srgbClr val="FFFFFF"/>
    <a:srgbClr val="C1C7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3" autoAdjust="0"/>
    <p:restoredTop sz="91480" autoAdjust="0"/>
  </p:normalViewPr>
  <p:slideViewPr>
    <p:cSldViewPr snapToGrid="0">
      <p:cViewPr varScale="1">
        <p:scale>
          <a:sx n="101" d="100"/>
          <a:sy n="101" d="100"/>
        </p:scale>
        <p:origin x="720" y="108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4.sv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image" Target="../media/image14.sv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E2D120-FCD6-4EEE-A8B4-CB2E1C96561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3548BC53-FD9D-49F0-A5DE-88D1A6C477F7}">
      <dgm:prSet/>
      <dgm:spPr/>
      <dgm:t>
        <a:bodyPr/>
        <a:lstStyle/>
        <a:p>
          <a:r>
            <a:rPr lang="en-US"/>
            <a:t>Findings</a:t>
          </a:r>
        </a:p>
      </dgm:t>
    </dgm:pt>
    <dgm:pt modelId="{42A7C3B1-3C15-4C1F-99F2-6C3A4CAEFD31}" type="parTrans" cxnId="{65541DBA-F4D4-47C9-8734-52B6F7B0E2C1}">
      <dgm:prSet/>
      <dgm:spPr/>
      <dgm:t>
        <a:bodyPr/>
        <a:lstStyle/>
        <a:p>
          <a:endParaRPr lang="en-US"/>
        </a:p>
      </dgm:t>
    </dgm:pt>
    <dgm:pt modelId="{C0B7F523-AD3D-4109-828E-E114067451B9}" type="sibTrans" cxnId="{65541DBA-F4D4-47C9-8734-52B6F7B0E2C1}">
      <dgm:prSet/>
      <dgm:spPr/>
      <dgm:t>
        <a:bodyPr/>
        <a:lstStyle/>
        <a:p>
          <a:endParaRPr lang="en-US"/>
        </a:p>
      </dgm:t>
    </dgm:pt>
    <dgm:pt modelId="{8DE58891-3079-41E0-A5E0-6FAC804ADD70}">
      <dgm:prSet/>
      <dgm:spPr/>
      <dgm:t>
        <a:bodyPr/>
        <a:lstStyle/>
        <a:p>
          <a:r>
            <a:rPr lang="en-US"/>
            <a:t>JavaScript, SQL, and HTML/CSS are the most-used languages today</a:t>
          </a:r>
        </a:p>
      </dgm:t>
    </dgm:pt>
    <dgm:pt modelId="{F3B549EB-B579-41AE-86CF-6FE525BB65DB}" type="parTrans" cxnId="{7B8E8BE9-CA60-40B3-A2ED-7C1DC2F41982}">
      <dgm:prSet/>
      <dgm:spPr/>
      <dgm:t>
        <a:bodyPr/>
        <a:lstStyle/>
        <a:p>
          <a:endParaRPr lang="en-US"/>
        </a:p>
      </dgm:t>
    </dgm:pt>
    <dgm:pt modelId="{BD73B498-0E03-4D82-B6F4-EBA23360F7D1}" type="sibTrans" cxnId="{7B8E8BE9-CA60-40B3-A2ED-7C1DC2F41982}">
      <dgm:prSet/>
      <dgm:spPr/>
      <dgm:t>
        <a:bodyPr/>
        <a:lstStyle/>
        <a:p>
          <a:endParaRPr lang="en-US"/>
        </a:p>
      </dgm:t>
    </dgm:pt>
    <dgm:pt modelId="{7FF58A76-DEB1-4482-963E-CE2E4454D20C}">
      <dgm:prSet/>
      <dgm:spPr/>
      <dgm:t>
        <a:bodyPr/>
        <a:lstStyle/>
        <a:p>
          <a:r>
            <a:rPr lang="en-US"/>
            <a:t>Python and TypeScript follow closely behind</a:t>
          </a:r>
        </a:p>
      </dgm:t>
    </dgm:pt>
    <dgm:pt modelId="{84E8A01C-DD34-4C41-B40B-3B67D6A50CA7}" type="parTrans" cxnId="{151A2038-B8ED-481D-B882-73E468C2D1E2}">
      <dgm:prSet/>
      <dgm:spPr/>
      <dgm:t>
        <a:bodyPr/>
        <a:lstStyle/>
        <a:p>
          <a:endParaRPr lang="en-US"/>
        </a:p>
      </dgm:t>
    </dgm:pt>
    <dgm:pt modelId="{337F88E3-AFCF-45F9-8175-0F5E77276DDE}" type="sibTrans" cxnId="{151A2038-B8ED-481D-B882-73E468C2D1E2}">
      <dgm:prSet/>
      <dgm:spPr/>
      <dgm:t>
        <a:bodyPr/>
        <a:lstStyle/>
        <a:p>
          <a:endParaRPr lang="en-US"/>
        </a:p>
      </dgm:t>
    </dgm:pt>
    <dgm:pt modelId="{9D7FB926-4F79-47C0-9D53-12FCCDAC231B}">
      <dgm:prSet/>
      <dgm:spPr/>
      <dgm:t>
        <a:bodyPr/>
        <a:lstStyle/>
        <a:p>
          <a:r>
            <a:rPr lang="en-US"/>
            <a:t>Go and Rust newly enter the top 10 for future interest, while Java drops</a:t>
          </a:r>
        </a:p>
      </dgm:t>
    </dgm:pt>
    <dgm:pt modelId="{89AE9D75-89A9-4547-8D09-D9978722361E}" type="parTrans" cxnId="{77B8D05E-1352-42F7-9B95-7A3B96008A67}">
      <dgm:prSet/>
      <dgm:spPr/>
      <dgm:t>
        <a:bodyPr/>
        <a:lstStyle/>
        <a:p>
          <a:endParaRPr lang="en-US"/>
        </a:p>
      </dgm:t>
    </dgm:pt>
    <dgm:pt modelId="{8666EB16-67BD-4203-82D7-9BD3C2239B6B}" type="sibTrans" cxnId="{77B8D05E-1352-42F7-9B95-7A3B96008A67}">
      <dgm:prSet/>
      <dgm:spPr/>
      <dgm:t>
        <a:bodyPr/>
        <a:lstStyle/>
        <a:p>
          <a:endParaRPr lang="en-US"/>
        </a:p>
      </dgm:t>
    </dgm:pt>
    <dgm:pt modelId="{9E98307A-0491-4B7B-95B5-4A83CE0D54A0}" type="pres">
      <dgm:prSet presAssocID="{58E2D120-FCD6-4EEE-A8B4-CB2E1C965618}" presName="root" presStyleCnt="0">
        <dgm:presLayoutVars>
          <dgm:dir/>
          <dgm:resizeHandles val="exact"/>
        </dgm:presLayoutVars>
      </dgm:prSet>
      <dgm:spPr/>
    </dgm:pt>
    <dgm:pt modelId="{87A0B9DF-AD6A-44BE-A060-5E28B6AAF7D7}" type="pres">
      <dgm:prSet presAssocID="{3548BC53-FD9D-49F0-A5DE-88D1A6C477F7}" presName="compNode" presStyleCnt="0"/>
      <dgm:spPr/>
    </dgm:pt>
    <dgm:pt modelId="{A3943A6D-3BB4-490E-921E-6B9EDF86A046}" type="pres">
      <dgm:prSet presAssocID="{3548BC53-FD9D-49F0-A5DE-88D1A6C477F7}" presName="bgRect" presStyleLbl="bgShp" presStyleIdx="0" presStyleCnt="4"/>
      <dgm:spPr/>
    </dgm:pt>
    <dgm:pt modelId="{838AC93D-2C86-4179-A72D-D5FFE9B27D1A}" type="pres">
      <dgm:prSet presAssocID="{3548BC53-FD9D-49F0-A5DE-88D1A6C477F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8057B05D-BC39-48B5-9EF6-11276D61B28D}" type="pres">
      <dgm:prSet presAssocID="{3548BC53-FD9D-49F0-A5DE-88D1A6C477F7}" presName="spaceRect" presStyleCnt="0"/>
      <dgm:spPr/>
    </dgm:pt>
    <dgm:pt modelId="{B6FB6A3F-989A-4EA3-B4A0-2266AF9CCC60}" type="pres">
      <dgm:prSet presAssocID="{3548BC53-FD9D-49F0-A5DE-88D1A6C477F7}" presName="parTx" presStyleLbl="revTx" presStyleIdx="0" presStyleCnt="4">
        <dgm:presLayoutVars>
          <dgm:chMax val="0"/>
          <dgm:chPref val="0"/>
        </dgm:presLayoutVars>
      </dgm:prSet>
      <dgm:spPr/>
    </dgm:pt>
    <dgm:pt modelId="{4791BA06-1480-472C-973D-09302185166F}" type="pres">
      <dgm:prSet presAssocID="{C0B7F523-AD3D-4109-828E-E114067451B9}" presName="sibTrans" presStyleCnt="0"/>
      <dgm:spPr/>
    </dgm:pt>
    <dgm:pt modelId="{274607C2-5AAB-4DB9-AF8B-699590B5459D}" type="pres">
      <dgm:prSet presAssocID="{8DE58891-3079-41E0-A5E0-6FAC804ADD70}" presName="compNode" presStyleCnt="0"/>
      <dgm:spPr/>
    </dgm:pt>
    <dgm:pt modelId="{C10E892E-C0CC-437F-AC0A-FAC0FF5E17CE}" type="pres">
      <dgm:prSet presAssocID="{8DE58891-3079-41E0-A5E0-6FAC804ADD70}" presName="bgRect" presStyleLbl="bgShp" presStyleIdx="1" presStyleCnt="4"/>
      <dgm:spPr/>
    </dgm:pt>
    <dgm:pt modelId="{88D38322-F4C1-4778-A7FE-4BC6C397EE02}" type="pres">
      <dgm:prSet presAssocID="{8DE58891-3079-41E0-A5E0-6FAC804ADD7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F9B906FE-030A-402D-A6A7-14642462E77D}" type="pres">
      <dgm:prSet presAssocID="{8DE58891-3079-41E0-A5E0-6FAC804ADD70}" presName="spaceRect" presStyleCnt="0"/>
      <dgm:spPr/>
    </dgm:pt>
    <dgm:pt modelId="{5E6265C5-9E7F-4C70-B0CB-68CB57A5F7B8}" type="pres">
      <dgm:prSet presAssocID="{8DE58891-3079-41E0-A5E0-6FAC804ADD70}" presName="parTx" presStyleLbl="revTx" presStyleIdx="1" presStyleCnt="4">
        <dgm:presLayoutVars>
          <dgm:chMax val="0"/>
          <dgm:chPref val="0"/>
        </dgm:presLayoutVars>
      </dgm:prSet>
      <dgm:spPr/>
    </dgm:pt>
    <dgm:pt modelId="{EFC58168-68B1-49E2-92CB-C9644079EA7B}" type="pres">
      <dgm:prSet presAssocID="{BD73B498-0E03-4D82-B6F4-EBA23360F7D1}" presName="sibTrans" presStyleCnt="0"/>
      <dgm:spPr/>
    </dgm:pt>
    <dgm:pt modelId="{7131811C-E5FD-4D4B-9BDF-ABD9E68D6244}" type="pres">
      <dgm:prSet presAssocID="{7FF58A76-DEB1-4482-963E-CE2E4454D20C}" presName="compNode" presStyleCnt="0"/>
      <dgm:spPr/>
    </dgm:pt>
    <dgm:pt modelId="{977743E7-AF28-4133-B42E-D06B8E6772F4}" type="pres">
      <dgm:prSet presAssocID="{7FF58A76-DEB1-4482-963E-CE2E4454D20C}" presName="bgRect" presStyleLbl="bgShp" presStyleIdx="2" presStyleCnt="4"/>
      <dgm:spPr/>
    </dgm:pt>
    <dgm:pt modelId="{80256431-9C17-4729-B686-A6EFD02480A0}" type="pres">
      <dgm:prSet presAssocID="{7FF58A76-DEB1-4482-963E-CE2E4454D20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877F826-886C-4007-BF82-EA58C55ADE52}" type="pres">
      <dgm:prSet presAssocID="{7FF58A76-DEB1-4482-963E-CE2E4454D20C}" presName="spaceRect" presStyleCnt="0"/>
      <dgm:spPr/>
    </dgm:pt>
    <dgm:pt modelId="{C566A5E3-BAA8-441B-A695-8BC8760A6A3B}" type="pres">
      <dgm:prSet presAssocID="{7FF58A76-DEB1-4482-963E-CE2E4454D20C}" presName="parTx" presStyleLbl="revTx" presStyleIdx="2" presStyleCnt="4">
        <dgm:presLayoutVars>
          <dgm:chMax val="0"/>
          <dgm:chPref val="0"/>
        </dgm:presLayoutVars>
      </dgm:prSet>
      <dgm:spPr/>
    </dgm:pt>
    <dgm:pt modelId="{855C908F-1313-40F0-948E-702B97EEF030}" type="pres">
      <dgm:prSet presAssocID="{337F88E3-AFCF-45F9-8175-0F5E77276DDE}" presName="sibTrans" presStyleCnt="0"/>
      <dgm:spPr/>
    </dgm:pt>
    <dgm:pt modelId="{6EFB8F19-8357-487F-9D9D-6F97F352290E}" type="pres">
      <dgm:prSet presAssocID="{9D7FB926-4F79-47C0-9D53-12FCCDAC231B}" presName="compNode" presStyleCnt="0"/>
      <dgm:spPr/>
    </dgm:pt>
    <dgm:pt modelId="{B90A761B-A92C-41A2-AB21-0587C61A3387}" type="pres">
      <dgm:prSet presAssocID="{9D7FB926-4F79-47C0-9D53-12FCCDAC231B}" presName="bgRect" presStyleLbl="bgShp" presStyleIdx="3" presStyleCnt="4"/>
      <dgm:spPr/>
    </dgm:pt>
    <dgm:pt modelId="{D7DEA732-51CD-4497-B70A-53A0F835666D}" type="pres">
      <dgm:prSet presAssocID="{9D7FB926-4F79-47C0-9D53-12FCCDAC231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rotUp"/>
        </a:ext>
      </dgm:extLst>
    </dgm:pt>
    <dgm:pt modelId="{70F5297A-A1D8-48C3-AA23-45A4FF3A8424}" type="pres">
      <dgm:prSet presAssocID="{9D7FB926-4F79-47C0-9D53-12FCCDAC231B}" presName="spaceRect" presStyleCnt="0"/>
      <dgm:spPr/>
    </dgm:pt>
    <dgm:pt modelId="{ABEED216-2194-4B06-85BC-0E6730FD7AC2}" type="pres">
      <dgm:prSet presAssocID="{9D7FB926-4F79-47C0-9D53-12FCCDAC231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03C3107-BFE8-4188-9171-40B43A7464DE}" type="presOf" srcId="{8DE58891-3079-41E0-A5E0-6FAC804ADD70}" destId="{5E6265C5-9E7F-4C70-B0CB-68CB57A5F7B8}" srcOrd="0" destOrd="0" presId="urn:microsoft.com/office/officeart/2018/2/layout/IconVerticalSolidList"/>
    <dgm:cxn modelId="{A06D7736-9FD7-4C7B-90FF-52612A4A993B}" type="presOf" srcId="{7FF58A76-DEB1-4482-963E-CE2E4454D20C}" destId="{C566A5E3-BAA8-441B-A695-8BC8760A6A3B}" srcOrd="0" destOrd="0" presId="urn:microsoft.com/office/officeart/2018/2/layout/IconVerticalSolidList"/>
    <dgm:cxn modelId="{151A2038-B8ED-481D-B882-73E468C2D1E2}" srcId="{58E2D120-FCD6-4EEE-A8B4-CB2E1C965618}" destId="{7FF58A76-DEB1-4482-963E-CE2E4454D20C}" srcOrd="2" destOrd="0" parTransId="{84E8A01C-DD34-4C41-B40B-3B67D6A50CA7}" sibTransId="{337F88E3-AFCF-45F9-8175-0F5E77276DDE}"/>
    <dgm:cxn modelId="{77B8D05E-1352-42F7-9B95-7A3B96008A67}" srcId="{58E2D120-FCD6-4EEE-A8B4-CB2E1C965618}" destId="{9D7FB926-4F79-47C0-9D53-12FCCDAC231B}" srcOrd="3" destOrd="0" parTransId="{89AE9D75-89A9-4547-8D09-D9978722361E}" sibTransId="{8666EB16-67BD-4203-82D7-9BD3C2239B6B}"/>
    <dgm:cxn modelId="{B07BD07F-ED1F-46F1-9B14-5159D1881220}" type="presOf" srcId="{9D7FB926-4F79-47C0-9D53-12FCCDAC231B}" destId="{ABEED216-2194-4B06-85BC-0E6730FD7AC2}" srcOrd="0" destOrd="0" presId="urn:microsoft.com/office/officeart/2018/2/layout/IconVerticalSolidList"/>
    <dgm:cxn modelId="{5B59C4B0-C8AE-4541-A4AB-AEEFF7ACE3AA}" type="presOf" srcId="{58E2D120-FCD6-4EEE-A8B4-CB2E1C965618}" destId="{9E98307A-0491-4B7B-95B5-4A83CE0D54A0}" srcOrd="0" destOrd="0" presId="urn:microsoft.com/office/officeart/2018/2/layout/IconVerticalSolidList"/>
    <dgm:cxn modelId="{65541DBA-F4D4-47C9-8734-52B6F7B0E2C1}" srcId="{58E2D120-FCD6-4EEE-A8B4-CB2E1C965618}" destId="{3548BC53-FD9D-49F0-A5DE-88D1A6C477F7}" srcOrd="0" destOrd="0" parTransId="{42A7C3B1-3C15-4C1F-99F2-6C3A4CAEFD31}" sibTransId="{C0B7F523-AD3D-4109-828E-E114067451B9}"/>
    <dgm:cxn modelId="{C534FDD3-753C-406E-9C74-05A9A1441B32}" type="presOf" srcId="{3548BC53-FD9D-49F0-A5DE-88D1A6C477F7}" destId="{B6FB6A3F-989A-4EA3-B4A0-2266AF9CCC60}" srcOrd="0" destOrd="0" presId="urn:microsoft.com/office/officeart/2018/2/layout/IconVerticalSolidList"/>
    <dgm:cxn modelId="{7B8E8BE9-CA60-40B3-A2ED-7C1DC2F41982}" srcId="{58E2D120-FCD6-4EEE-A8B4-CB2E1C965618}" destId="{8DE58891-3079-41E0-A5E0-6FAC804ADD70}" srcOrd="1" destOrd="0" parTransId="{F3B549EB-B579-41AE-86CF-6FE525BB65DB}" sibTransId="{BD73B498-0E03-4D82-B6F4-EBA23360F7D1}"/>
    <dgm:cxn modelId="{06E6FDE9-BE88-4D3F-8137-6FA185417B9E}" type="presParOf" srcId="{9E98307A-0491-4B7B-95B5-4A83CE0D54A0}" destId="{87A0B9DF-AD6A-44BE-A060-5E28B6AAF7D7}" srcOrd="0" destOrd="0" presId="urn:microsoft.com/office/officeart/2018/2/layout/IconVerticalSolidList"/>
    <dgm:cxn modelId="{43B31BAB-6AFD-4D44-920E-BAECA616CA93}" type="presParOf" srcId="{87A0B9DF-AD6A-44BE-A060-5E28B6AAF7D7}" destId="{A3943A6D-3BB4-490E-921E-6B9EDF86A046}" srcOrd="0" destOrd="0" presId="urn:microsoft.com/office/officeart/2018/2/layout/IconVerticalSolidList"/>
    <dgm:cxn modelId="{676908E1-E92C-4FE8-8991-E7A4FED32D46}" type="presParOf" srcId="{87A0B9DF-AD6A-44BE-A060-5E28B6AAF7D7}" destId="{838AC93D-2C86-4179-A72D-D5FFE9B27D1A}" srcOrd="1" destOrd="0" presId="urn:microsoft.com/office/officeart/2018/2/layout/IconVerticalSolidList"/>
    <dgm:cxn modelId="{0011ABD9-2E6B-44AF-BD46-36EE3106274C}" type="presParOf" srcId="{87A0B9DF-AD6A-44BE-A060-5E28B6AAF7D7}" destId="{8057B05D-BC39-48B5-9EF6-11276D61B28D}" srcOrd="2" destOrd="0" presId="urn:microsoft.com/office/officeart/2018/2/layout/IconVerticalSolidList"/>
    <dgm:cxn modelId="{56872A25-C9CD-4554-8392-A39BF2E384A2}" type="presParOf" srcId="{87A0B9DF-AD6A-44BE-A060-5E28B6AAF7D7}" destId="{B6FB6A3F-989A-4EA3-B4A0-2266AF9CCC60}" srcOrd="3" destOrd="0" presId="urn:microsoft.com/office/officeart/2018/2/layout/IconVerticalSolidList"/>
    <dgm:cxn modelId="{42DE632A-15FA-4298-9434-023E2EA47707}" type="presParOf" srcId="{9E98307A-0491-4B7B-95B5-4A83CE0D54A0}" destId="{4791BA06-1480-472C-973D-09302185166F}" srcOrd="1" destOrd="0" presId="urn:microsoft.com/office/officeart/2018/2/layout/IconVerticalSolidList"/>
    <dgm:cxn modelId="{0E07FFDF-739D-4A08-8D57-D6384A3D4A71}" type="presParOf" srcId="{9E98307A-0491-4B7B-95B5-4A83CE0D54A0}" destId="{274607C2-5AAB-4DB9-AF8B-699590B5459D}" srcOrd="2" destOrd="0" presId="urn:microsoft.com/office/officeart/2018/2/layout/IconVerticalSolidList"/>
    <dgm:cxn modelId="{6FDFCEF0-B8FE-46F2-9E31-01F00CC82976}" type="presParOf" srcId="{274607C2-5AAB-4DB9-AF8B-699590B5459D}" destId="{C10E892E-C0CC-437F-AC0A-FAC0FF5E17CE}" srcOrd="0" destOrd="0" presId="urn:microsoft.com/office/officeart/2018/2/layout/IconVerticalSolidList"/>
    <dgm:cxn modelId="{5DEA719C-17E9-4617-A081-7FE065C4BA3B}" type="presParOf" srcId="{274607C2-5AAB-4DB9-AF8B-699590B5459D}" destId="{88D38322-F4C1-4778-A7FE-4BC6C397EE02}" srcOrd="1" destOrd="0" presId="urn:microsoft.com/office/officeart/2018/2/layout/IconVerticalSolidList"/>
    <dgm:cxn modelId="{9727F758-4E49-4E3E-81FE-5015C84304B2}" type="presParOf" srcId="{274607C2-5AAB-4DB9-AF8B-699590B5459D}" destId="{F9B906FE-030A-402D-A6A7-14642462E77D}" srcOrd="2" destOrd="0" presId="urn:microsoft.com/office/officeart/2018/2/layout/IconVerticalSolidList"/>
    <dgm:cxn modelId="{D21097A1-A8E4-47B9-BC64-7CB2AB095E5B}" type="presParOf" srcId="{274607C2-5AAB-4DB9-AF8B-699590B5459D}" destId="{5E6265C5-9E7F-4C70-B0CB-68CB57A5F7B8}" srcOrd="3" destOrd="0" presId="urn:microsoft.com/office/officeart/2018/2/layout/IconVerticalSolidList"/>
    <dgm:cxn modelId="{3BC23D4F-211A-4CA7-A223-7A41368D89B8}" type="presParOf" srcId="{9E98307A-0491-4B7B-95B5-4A83CE0D54A0}" destId="{EFC58168-68B1-49E2-92CB-C9644079EA7B}" srcOrd="3" destOrd="0" presId="urn:microsoft.com/office/officeart/2018/2/layout/IconVerticalSolidList"/>
    <dgm:cxn modelId="{F912885F-7D56-4922-B68A-27E563AF7EAE}" type="presParOf" srcId="{9E98307A-0491-4B7B-95B5-4A83CE0D54A0}" destId="{7131811C-E5FD-4D4B-9BDF-ABD9E68D6244}" srcOrd="4" destOrd="0" presId="urn:microsoft.com/office/officeart/2018/2/layout/IconVerticalSolidList"/>
    <dgm:cxn modelId="{5C8B6AB8-2842-4D5A-B9B1-3E6057C23974}" type="presParOf" srcId="{7131811C-E5FD-4D4B-9BDF-ABD9E68D6244}" destId="{977743E7-AF28-4133-B42E-D06B8E6772F4}" srcOrd="0" destOrd="0" presId="urn:microsoft.com/office/officeart/2018/2/layout/IconVerticalSolidList"/>
    <dgm:cxn modelId="{83181BA5-D3C1-4A0E-8DCA-57F1DD464D13}" type="presParOf" srcId="{7131811C-E5FD-4D4B-9BDF-ABD9E68D6244}" destId="{80256431-9C17-4729-B686-A6EFD02480A0}" srcOrd="1" destOrd="0" presId="urn:microsoft.com/office/officeart/2018/2/layout/IconVerticalSolidList"/>
    <dgm:cxn modelId="{227CCD23-B27D-4B80-801B-B07F75F3FA2C}" type="presParOf" srcId="{7131811C-E5FD-4D4B-9BDF-ABD9E68D6244}" destId="{3877F826-886C-4007-BF82-EA58C55ADE52}" srcOrd="2" destOrd="0" presId="urn:microsoft.com/office/officeart/2018/2/layout/IconVerticalSolidList"/>
    <dgm:cxn modelId="{75BF20BE-5D4B-4864-8B23-86278AED1E31}" type="presParOf" srcId="{7131811C-E5FD-4D4B-9BDF-ABD9E68D6244}" destId="{C566A5E3-BAA8-441B-A695-8BC8760A6A3B}" srcOrd="3" destOrd="0" presId="urn:microsoft.com/office/officeart/2018/2/layout/IconVerticalSolidList"/>
    <dgm:cxn modelId="{152F6E8D-80DB-4F24-B20E-1460B9517DF5}" type="presParOf" srcId="{9E98307A-0491-4B7B-95B5-4A83CE0D54A0}" destId="{855C908F-1313-40F0-948E-702B97EEF030}" srcOrd="5" destOrd="0" presId="urn:microsoft.com/office/officeart/2018/2/layout/IconVerticalSolidList"/>
    <dgm:cxn modelId="{E9545BF2-09C5-4B39-98A7-ED13A1542808}" type="presParOf" srcId="{9E98307A-0491-4B7B-95B5-4A83CE0D54A0}" destId="{6EFB8F19-8357-487F-9D9D-6F97F352290E}" srcOrd="6" destOrd="0" presId="urn:microsoft.com/office/officeart/2018/2/layout/IconVerticalSolidList"/>
    <dgm:cxn modelId="{57FA51B2-5423-44AF-A7BE-7C50F3FBAE21}" type="presParOf" srcId="{6EFB8F19-8357-487F-9D9D-6F97F352290E}" destId="{B90A761B-A92C-41A2-AB21-0587C61A3387}" srcOrd="0" destOrd="0" presId="urn:microsoft.com/office/officeart/2018/2/layout/IconVerticalSolidList"/>
    <dgm:cxn modelId="{5646FAAD-AF0B-463C-8FCF-09770CF67985}" type="presParOf" srcId="{6EFB8F19-8357-487F-9D9D-6F97F352290E}" destId="{D7DEA732-51CD-4497-B70A-53A0F835666D}" srcOrd="1" destOrd="0" presId="urn:microsoft.com/office/officeart/2018/2/layout/IconVerticalSolidList"/>
    <dgm:cxn modelId="{58D49AAB-4EFB-4628-9A0D-06EE84978FC5}" type="presParOf" srcId="{6EFB8F19-8357-487F-9D9D-6F97F352290E}" destId="{70F5297A-A1D8-48C3-AA23-45A4FF3A8424}" srcOrd="2" destOrd="0" presId="urn:microsoft.com/office/officeart/2018/2/layout/IconVerticalSolidList"/>
    <dgm:cxn modelId="{266BC24E-252D-4541-A5AC-24FAA6C269F5}" type="presParOf" srcId="{6EFB8F19-8357-487F-9D9D-6F97F352290E}" destId="{ABEED216-2194-4B06-85BC-0E6730FD7AC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683D6A-7E9D-4F76-853D-9A80A6616A6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21E6EDC4-5621-467B-9D13-04509B752CC7}">
      <dgm:prSet/>
      <dgm:spPr/>
      <dgm:t>
        <a:bodyPr/>
        <a:lstStyle/>
        <a:p>
          <a:r>
            <a:rPr lang="en-US"/>
            <a:t>Findings</a:t>
          </a:r>
        </a:p>
      </dgm:t>
    </dgm:pt>
    <dgm:pt modelId="{A50ECCF3-EAF8-464B-8380-50CBCA307BD5}" type="parTrans" cxnId="{7CAB3B72-7992-45AA-B09D-38667C3A43B9}">
      <dgm:prSet/>
      <dgm:spPr/>
      <dgm:t>
        <a:bodyPr/>
        <a:lstStyle/>
        <a:p>
          <a:endParaRPr lang="en-US"/>
        </a:p>
      </dgm:t>
    </dgm:pt>
    <dgm:pt modelId="{6CA96DE5-1081-4E2B-B7F2-414B75000106}" type="sibTrans" cxnId="{7CAB3B72-7992-45AA-B09D-38667C3A43B9}">
      <dgm:prSet/>
      <dgm:spPr/>
      <dgm:t>
        <a:bodyPr/>
        <a:lstStyle/>
        <a:p>
          <a:endParaRPr lang="en-US"/>
        </a:p>
      </dgm:t>
    </dgm:pt>
    <dgm:pt modelId="{81D24233-8792-48BD-81E1-F7BC73119FF5}">
      <dgm:prSet/>
      <dgm:spPr/>
      <dgm:t>
        <a:bodyPr/>
        <a:lstStyle/>
        <a:p>
          <a:r>
            <a:rPr lang="en-US"/>
            <a:t>PostgreSQL is the clear leader today and its lead widens for future interest</a:t>
          </a:r>
        </a:p>
      </dgm:t>
    </dgm:pt>
    <dgm:pt modelId="{774F2F18-4F39-45A9-A60D-913319FBB34F}" type="parTrans" cxnId="{F13CA9DD-190B-47FF-BF92-3F96C255E3EF}">
      <dgm:prSet/>
      <dgm:spPr/>
      <dgm:t>
        <a:bodyPr/>
        <a:lstStyle/>
        <a:p>
          <a:endParaRPr lang="en-US"/>
        </a:p>
      </dgm:t>
    </dgm:pt>
    <dgm:pt modelId="{9F59A13A-701A-4785-9B13-16CD0B6DDCF9}" type="sibTrans" cxnId="{F13CA9DD-190B-47FF-BF92-3F96C255E3EF}">
      <dgm:prSet/>
      <dgm:spPr/>
      <dgm:t>
        <a:bodyPr/>
        <a:lstStyle/>
        <a:p>
          <a:endParaRPr lang="en-US"/>
        </a:p>
      </dgm:t>
    </dgm:pt>
    <dgm:pt modelId="{D914589B-EAE1-4DD8-8D78-40D73158C2AD}">
      <dgm:prSet/>
      <dgm:spPr/>
      <dgm:t>
        <a:bodyPr/>
        <a:lstStyle/>
        <a:p>
          <a:r>
            <a:rPr lang="en-US"/>
            <a:t>MySQL and SQLite remain popular, but Redis climbs sharply in future interest</a:t>
          </a:r>
        </a:p>
      </dgm:t>
    </dgm:pt>
    <dgm:pt modelId="{0068BE05-61AA-45AE-A57B-A79783443E70}" type="parTrans" cxnId="{77D7BDC1-A42E-4C00-A188-602E620C37A5}">
      <dgm:prSet/>
      <dgm:spPr/>
      <dgm:t>
        <a:bodyPr/>
        <a:lstStyle/>
        <a:p>
          <a:endParaRPr lang="en-US"/>
        </a:p>
      </dgm:t>
    </dgm:pt>
    <dgm:pt modelId="{623BD6B6-FE97-4F06-A578-6170033F7D93}" type="sibTrans" cxnId="{77D7BDC1-A42E-4C00-A188-602E620C37A5}">
      <dgm:prSet/>
      <dgm:spPr/>
      <dgm:t>
        <a:bodyPr/>
        <a:lstStyle/>
        <a:p>
          <a:endParaRPr lang="en-US"/>
        </a:p>
      </dgm:t>
    </dgm:pt>
    <dgm:pt modelId="{B5C299CE-F20B-4227-8335-6386E34E1C9E}">
      <dgm:prSet/>
      <dgm:spPr/>
      <dgm:t>
        <a:bodyPr/>
        <a:lstStyle/>
        <a:p>
          <a:r>
            <a:rPr lang="en-US"/>
            <a:t>Supabase emerges as a new top-10 database for future adoption</a:t>
          </a:r>
        </a:p>
      </dgm:t>
    </dgm:pt>
    <dgm:pt modelId="{572F8A75-3FBD-45A6-8073-45B415CB7A2B}" type="parTrans" cxnId="{3EBE3CCD-74E9-4FD8-B28F-4937607AAE29}">
      <dgm:prSet/>
      <dgm:spPr/>
      <dgm:t>
        <a:bodyPr/>
        <a:lstStyle/>
        <a:p>
          <a:endParaRPr lang="en-US"/>
        </a:p>
      </dgm:t>
    </dgm:pt>
    <dgm:pt modelId="{8F4A1285-F6D8-42E5-ADE7-1897645BCAF8}" type="sibTrans" cxnId="{3EBE3CCD-74E9-4FD8-B28F-4937607AAE29}">
      <dgm:prSet/>
      <dgm:spPr/>
      <dgm:t>
        <a:bodyPr/>
        <a:lstStyle/>
        <a:p>
          <a:endParaRPr lang="en-US"/>
        </a:p>
      </dgm:t>
    </dgm:pt>
    <dgm:pt modelId="{777825A8-131F-493E-A562-563FFE2C2147}" type="pres">
      <dgm:prSet presAssocID="{8D683D6A-7E9D-4F76-853D-9A80A6616A6E}" presName="root" presStyleCnt="0">
        <dgm:presLayoutVars>
          <dgm:dir/>
          <dgm:resizeHandles val="exact"/>
        </dgm:presLayoutVars>
      </dgm:prSet>
      <dgm:spPr/>
    </dgm:pt>
    <dgm:pt modelId="{6A85DD3E-DFAC-48E6-B96E-E1B3FCE1C90B}" type="pres">
      <dgm:prSet presAssocID="{21E6EDC4-5621-467B-9D13-04509B752CC7}" presName="compNode" presStyleCnt="0"/>
      <dgm:spPr/>
    </dgm:pt>
    <dgm:pt modelId="{779761C3-2BF2-43CA-953F-ED2975952681}" type="pres">
      <dgm:prSet presAssocID="{21E6EDC4-5621-467B-9D13-04509B752CC7}" presName="bgRect" presStyleLbl="bgShp" presStyleIdx="0" presStyleCnt="4"/>
      <dgm:spPr/>
    </dgm:pt>
    <dgm:pt modelId="{77D76BC6-9F93-4411-8CC0-C3BD92EDF794}" type="pres">
      <dgm:prSet presAssocID="{21E6EDC4-5621-467B-9D13-04509B752CC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D0B6A63-4117-4338-BC53-512D0A87FE4A}" type="pres">
      <dgm:prSet presAssocID="{21E6EDC4-5621-467B-9D13-04509B752CC7}" presName="spaceRect" presStyleCnt="0"/>
      <dgm:spPr/>
    </dgm:pt>
    <dgm:pt modelId="{F1C48A21-35A5-43CF-BE4B-F8F821CEB455}" type="pres">
      <dgm:prSet presAssocID="{21E6EDC4-5621-467B-9D13-04509B752CC7}" presName="parTx" presStyleLbl="revTx" presStyleIdx="0" presStyleCnt="4">
        <dgm:presLayoutVars>
          <dgm:chMax val="0"/>
          <dgm:chPref val="0"/>
        </dgm:presLayoutVars>
      </dgm:prSet>
      <dgm:spPr/>
    </dgm:pt>
    <dgm:pt modelId="{196843CD-1245-4869-BE96-F0E8F5698760}" type="pres">
      <dgm:prSet presAssocID="{6CA96DE5-1081-4E2B-B7F2-414B75000106}" presName="sibTrans" presStyleCnt="0"/>
      <dgm:spPr/>
    </dgm:pt>
    <dgm:pt modelId="{FFF27710-56AE-4EBE-82E1-4C2870721899}" type="pres">
      <dgm:prSet presAssocID="{81D24233-8792-48BD-81E1-F7BC73119FF5}" presName="compNode" presStyleCnt="0"/>
      <dgm:spPr/>
    </dgm:pt>
    <dgm:pt modelId="{AA03C4EC-9030-4EAF-A53C-6DE5F32F93A7}" type="pres">
      <dgm:prSet presAssocID="{81D24233-8792-48BD-81E1-F7BC73119FF5}" presName="bgRect" presStyleLbl="bgShp" presStyleIdx="1" presStyleCnt="4"/>
      <dgm:spPr/>
    </dgm:pt>
    <dgm:pt modelId="{C6F594B4-3EC8-4594-A73A-8986F21D1A38}" type="pres">
      <dgm:prSet presAssocID="{81D24233-8792-48BD-81E1-F7BC73119FF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E109CC1D-1210-439D-AEC1-64774E82DC89}" type="pres">
      <dgm:prSet presAssocID="{81D24233-8792-48BD-81E1-F7BC73119FF5}" presName="spaceRect" presStyleCnt="0"/>
      <dgm:spPr/>
    </dgm:pt>
    <dgm:pt modelId="{B17E315C-546D-49D4-A521-E76E8D5DD621}" type="pres">
      <dgm:prSet presAssocID="{81D24233-8792-48BD-81E1-F7BC73119FF5}" presName="parTx" presStyleLbl="revTx" presStyleIdx="1" presStyleCnt="4">
        <dgm:presLayoutVars>
          <dgm:chMax val="0"/>
          <dgm:chPref val="0"/>
        </dgm:presLayoutVars>
      </dgm:prSet>
      <dgm:spPr/>
    </dgm:pt>
    <dgm:pt modelId="{C75D6905-1492-4559-9561-9EDA84D9715A}" type="pres">
      <dgm:prSet presAssocID="{9F59A13A-701A-4785-9B13-16CD0B6DDCF9}" presName="sibTrans" presStyleCnt="0"/>
      <dgm:spPr/>
    </dgm:pt>
    <dgm:pt modelId="{4F24B062-783D-46C9-B48E-A26A5AC86937}" type="pres">
      <dgm:prSet presAssocID="{D914589B-EAE1-4DD8-8D78-40D73158C2AD}" presName="compNode" presStyleCnt="0"/>
      <dgm:spPr/>
    </dgm:pt>
    <dgm:pt modelId="{D8A83DA9-1BA9-46CB-8BA9-4AC894492C81}" type="pres">
      <dgm:prSet presAssocID="{D914589B-EAE1-4DD8-8D78-40D73158C2AD}" presName="bgRect" presStyleLbl="bgShp" presStyleIdx="2" presStyleCnt="4"/>
      <dgm:spPr/>
    </dgm:pt>
    <dgm:pt modelId="{9BFE8E69-1B4D-49D8-9E7E-099438572127}" type="pres">
      <dgm:prSet presAssocID="{D914589B-EAE1-4DD8-8D78-40D73158C2A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ke"/>
        </a:ext>
      </dgm:extLst>
    </dgm:pt>
    <dgm:pt modelId="{215879CF-8C54-4B36-91F8-EA9DDE396B0E}" type="pres">
      <dgm:prSet presAssocID="{D914589B-EAE1-4DD8-8D78-40D73158C2AD}" presName="spaceRect" presStyleCnt="0"/>
      <dgm:spPr/>
    </dgm:pt>
    <dgm:pt modelId="{4A5EB3FD-60EF-4F9F-A3B6-A2F415525A79}" type="pres">
      <dgm:prSet presAssocID="{D914589B-EAE1-4DD8-8D78-40D73158C2AD}" presName="parTx" presStyleLbl="revTx" presStyleIdx="2" presStyleCnt="4">
        <dgm:presLayoutVars>
          <dgm:chMax val="0"/>
          <dgm:chPref val="0"/>
        </dgm:presLayoutVars>
      </dgm:prSet>
      <dgm:spPr/>
    </dgm:pt>
    <dgm:pt modelId="{A794623B-76E5-41FD-AF3E-D534488E728F}" type="pres">
      <dgm:prSet presAssocID="{623BD6B6-FE97-4F06-A578-6170033F7D93}" presName="sibTrans" presStyleCnt="0"/>
      <dgm:spPr/>
    </dgm:pt>
    <dgm:pt modelId="{2A81840E-1439-46FB-8166-00C39035A980}" type="pres">
      <dgm:prSet presAssocID="{B5C299CE-F20B-4227-8335-6386E34E1C9E}" presName="compNode" presStyleCnt="0"/>
      <dgm:spPr/>
    </dgm:pt>
    <dgm:pt modelId="{DFF48304-4B5F-44A2-8FE1-7C4F67037E6B}" type="pres">
      <dgm:prSet presAssocID="{B5C299CE-F20B-4227-8335-6386E34E1C9E}" presName="bgRect" presStyleLbl="bgShp" presStyleIdx="3" presStyleCnt="4"/>
      <dgm:spPr/>
    </dgm:pt>
    <dgm:pt modelId="{9B96B263-2F1D-4F31-AC7E-21F36A68CBBF}" type="pres">
      <dgm:prSet presAssocID="{B5C299CE-F20B-4227-8335-6386E34E1C9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83711FC-F259-48EB-B33D-2C8239A82226}" type="pres">
      <dgm:prSet presAssocID="{B5C299CE-F20B-4227-8335-6386E34E1C9E}" presName="spaceRect" presStyleCnt="0"/>
      <dgm:spPr/>
    </dgm:pt>
    <dgm:pt modelId="{6BCB665C-9B92-49AB-9544-655686DD9379}" type="pres">
      <dgm:prSet presAssocID="{B5C299CE-F20B-4227-8335-6386E34E1C9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9C40607-368B-4098-B187-E7F0AA0BB037}" type="presOf" srcId="{81D24233-8792-48BD-81E1-F7BC73119FF5}" destId="{B17E315C-546D-49D4-A521-E76E8D5DD621}" srcOrd="0" destOrd="0" presId="urn:microsoft.com/office/officeart/2018/2/layout/IconVerticalSolidList"/>
    <dgm:cxn modelId="{F05F090A-8F1E-4421-806E-98FB2C9138BA}" type="presOf" srcId="{B5C299CE-F20B-4227-8335-6386E34E1C9E}" destId="{6BCB665C-9B92-49AB-9544-655686DD9379}" srcOrd="0" destOrd="0" presId="urn:microsoft.com/office/officeart/2018/2/layout/IconVerticalSolidList"/>
    <dgm:cxn modelId="{7CAB3B72-7992-45AA-B09D-38667C3A43B9}" srcId="{8D683D6A-7E9D-4F76-853D-9A80A6616A6E}" destId="{21E6EDC4-5621-467B-9D13-04509B752CC7}" srcOrd="0" destOrd="0" parTransId="{A50ECCF3-EAF8-464B-8380-50CBCA307BD5}" sibTransId="{6CA96DE5-1081-4E2B-B7F2-414B75000106}"/>
    <dgm:cxn modelId="{C59AE752-B7D3-49AD-BCEB-7B7E1E0092BD}" type="presOf" srcId="{8D683D6A-7E9D-4F76-853D-9A80A6616A6E}" destId="{777825A8-131F-493E-A562-563FFE2C2147}" srcOrd="0" destOrd="0" presId="urn:microsoft.com/office/officeart/2018/2/layout/IconVerticalSolidList"/>
    <dgm:cxn modelId="{530D227A-6DA3-44B6-9420-70758D7342D9}" type="presOf" srcId="{21E6EDC4-5621-467B-9D13-04509B752CC7}" destId="{F1C48A21-35A5-43CF-BE4B-F8F821CEB455}" srcOrd="0" destOrd="0" presId="urn:microsoft.com/office/officeart/2018/2/layout/IconVerticalSolidList"/>
    <dgm:cxn modelId="{FE1CE888-57E6-4560-9BD3-651033A2BD1C}" type="presOf" srcId="{D914589B-EAE1-4DD8-8D78-40D73158C2AD}" destId="{4A5EB3FD-60EF-4F9F-A3B6-A2F415525A79}" srcOrd="0" destOrd="0" presId="urn:microsoft.com/office/officeart/2018/2/layout/IconVerticalSolidList"/>
    <dgm:cxn modelId="{77D7BDC1-A42E-4C00-A188-602E620C37A5}" srcId="{8D683D6A-7E9D-4F76-853D-9A80A6616A6E}" destId="{D914589B-EAE1-4DD8-8D78-40D73158C2AD}" srcOrd="2" destOrd="0" parTransId="{0068BE05-61AA-45AE-A57B-A79783443E70}" sibTransId="{623BD6B6-FE97-4F06-A578-6170033F7D93}"/>
    <dgm:cxn modelId="{3EBE3CCD-74E9-4FD8-B28F-4937607AAE29}" srcId="{8D683D6A-7E9D-4F76-853D-9A80A6616A6E}" destId="{B5C299CE-F20B-4227-8335-6386E34E1C9E}" srcOrd="3" destOrd="0" parTransId="{572F8A75-3FBD-45A6-8073-45B415CB7A2B}" sibTransId="{8F4A1285-F6D8-42E5-ADE7-1897645BCAF8}"/>
    <dgm:cxn modelId="{F13CA9DD-190B-47FF-BF92-3F96C255E3EF}" srcId="{8D683D6A-7E9D-4F76-853D-9A80A6616A6E}" destId="{81D24233-8792-48BD-81E1-F7BC73119FF5}" srcOrd="1" destOrd="0" parTransId="{774F2F18-4F39-45A9-A60D-913319FBB34F}" sibTransId="{9F59A13A-701A-4785-9B13-16CD0B6DDCF9}"/>
    <dgm:cxn modelId="{19040136-875E-4549-9D35-72D1B962234B}" type="presParOf" srcId="{777825A8-131F-493E-A562-563FFE2C2147}" destId="{6A85DD3E-DFAC-48E6-B96E-E1B3FCE1C90B}" srcOrd="0" destOrd="0" presId="urn:microsoft.com/office/officeart/2018/2/layout/IconVerticalSolidList"/>
    <dgm:cxn modelId="{F0DCC615-CC13-4680-A143-9E7F345E90B5}" type="presParOf" srcId="{6A85DD3E-DFAC-48E6-B96E-E1B3FCE1C90B}" destId="{779761C3-2BF2-43CA-953F-ED2975952681}" srcOrd="0" destOrd="0" presId="urn:microsoft.com/office/officeart/2018/2/layout/IconVerticalSolidList"/>
    <dgm:cxn modelId="{139BCCAC-4763-4B17-BD11-85E985CEE0FD}" type="presParOf" srcId="{6A85DD3E-DFAC-48E6-B96E-E1B3FCE1C90B}" destId="{77D76BC6-9F93-4411-8CC0-C3BD92EDF794}" srcOrd="1" destOrd="0" presId="urn:microsoft.com/office/officeart/2018/2/layout/IconVerticalSolidList"/>
    <dgm:cxn modelId="{AB0BBB7A-A8F0-4566-B98D-BE243752226A}" type="presParOf" srcId="{6A85DD3E-DFAC-48E6-B96E-E1B3FCE1C90B}" destId="{BD0B6A63-4117-4338-BC53-512D0A87FE4A}" srcOrd="2" destOrd="0" presId="urn:microsoft.com/office/officeart/2018/2/layout/IconVerticalSolidList"/>
    <dgm:cxn modelId="{628E4E0F-5112-4A1C-AC30-709C44470C91}" type="presParOf" srcId="{6A85DD3E-DFAC-48E6-B96E-E1B3FCE1C90B}" destId="{F1C48A21-35A5-43CF-BE4B-F8F821CEB455}" srcOrd="3" destOrd="0" presId="urn:microsoft.com/office/officeart/2018/2/layout/IconVerticalSolidList"/>
    <dgm:cxn modelId="{132BBBAB-AA8C-4D65-898C-D1AA8FA0C5BA}" type="presParOf" srcId="{777825A8-131F-493E-A562-563FFE2C2147}" destId="{196843CD-1245-4869-BE96-F0E8F5698760}" srcOrd="1" destOrd="0" presId="urn:microsoft.com/office/officeart/2018/2/layout/IconVerticalSolidList"/>
    <dgm:cxn modelId="{9CB9F21C-A016-4563-8C80-DFD8F48C8BC0}" type="presParOf" srcId="{777825A8-131F-493E-A562-563FFE2C2147}" destId="{FFF27710-56AE-4EBE-82E1-4C2870721899}" srcOrd="2" destOrd="0" presId="urn:microsoft.com/office/officeart/2018/2/layout/IconVerticalSolidList"/>
    <dgm:cxn modelId="{D69A2610-650C-487D-B85A-4157614F3711}" type="presParOf" srcId="{FFF27710-56AE-4EBE-82E1-4C2870721899}" destId="{AA03C4EC-9030-4EAF-A53C-6DE5F32F93A7}" srcOrd="0" destOrd="0" presId="urn:microsoft.com/office/officeart/2018/2/layout/IconVerticalSolidList"/>
    <dgm:cxn modelId="{F9DFDBDC-B71F-47B8-8AC1-290418DC27F2}" type="presParOf" srcId="{FFF27710-56AE-4EBE-82E1-4C2870721899}" destId="{C6F594B4-3EC8-4594-A73A-8986F21D1A38}" srcOrd="1" destOrd="0" presId="urn:microsoft.com/office/officeart/2018/2/layout/IconVerticalSolidList"/>
    <dgm:cxn modelId="{E12A8294-28F0-46DA-9ADF-7BB44A8483BF}" type="presParOf" srcId="{FFF27710-56AE-4EBE-82E1-4C2870721899}" destId="{E109CC1D-1210-439D-AEC1-64774E82DC89}" srcOrd="2" destOrd="0" presId="urn:microsoft.com/office/officeart/2018/2/layout/IconVerticalSolidList"/>
    <dgm:cxn modelId="{90FD1D43-FDB3-448A-9021-D2B3A1E56906}" type="presParOf" srcId="{FFF27710-56AE-4EBE-82E1-4C2870721899}" destId="{B17E315C-546D-49D4-A521-E76E8D5DD621}" srcOrd="3" destOrd="0" presId="urn:microsoft.com/office/officeart/2018/2/layout/IconVerticalSolidList"/>
    <dgm:cxn modelId="{5D7D02AD-BBBE-45D4-AD22-489E316C63AF}" type="presParOf" srcId="{777825A8-131F-493E-A562-563FFE2C2147}" destId="{C75D6905-1492-4559-9561-9EDA84D9715A}" srcOrd="3" destOrd="0" presId="urn:microsoft.com/office/officeart/2018/2/layout/IconVerticalSolidList"/>
    <dgm:cxn modelId="{AABA4DC0-0C93-4621-80CA-F442C2F3AE1E}" type="presParOf" srcId="{777825A8-131F-493E-A562-563FFE2C2147}" destId="{4F24B062-783D-46C9-B48E-A26A5AC86937}" srcOrd="4" destOrd="0" presId="urn:microsoft.com/office/officeart/2018/2/layout/IconVerticalSolidList"/>
    <dgm:cxn modelId="{402AD522-0BAE-487F-9500-467699B34C95}" type="presParOf" srcId="{4F24B062-783D-46C9-B48E-A26A5AC86937}" destId="{D8A83DA9-1BA9-46CB-8BA9-4AC894492C81}" srcOrd="0" destOrd="0" presId="urn:microsoft.com/office/officeart/2018/2/layout/IconVerticalSolidList"/>
    <dgm:cxn modelId="{E119C4A3-7AD9-4D53-87B2-E613B383BBDB}" type="presParOf" srcId="{4F24B062-783D-46C9-B48E-A26A5AC86937}" destId="{9BFE8E69-1B4D-49D8-9E7E-099438572127}" srcOrd="1" destOrd="0" presId="urn:microsoft.com/office/officeart/2018/2/layout/IconVerticalSolidList"/>
    <dgm:cxn modelId="{CB404289-CFBC-49B5-934A-131716717CFC}" type="presParOf" srcId="{4F24B062-783D-46C9-B48E-A26A5AC86937}" destId="{215879CF-8C54-4B36-91F8-EA9DDE396B0E}" srcOrd="2" destOrd="0" presId="urn:microsoft.com/office/officeart/2018/2/layout/IconVerticalSolidList"/>
    <dgm:cxn modelId="{AAD29848-1AAA-4276-8F90-98229CC1C249}" type="presParOf" srcId="{4F24B062-783D-46C9-B48E-A26A5AC86937}" destId="{4A5EB3FD-60EF-4F9F-A3B6-A2F415525A79}" srcOrd="3" destOrd="0" presId="urn:microsoft.com/office/officeart/2018/2/layout/IconVerticalSolidList"/>
    <dgm:cxn modelId="{11E41D6E-446F-4481-9836-5071A9C843FB}" type="presParOf" srcId="{777825A8-131F-493E-A562-563FFE2C2147}" destId="{A794623B-76E5-41FD-AF3E-D534488E728F}" srcOrd="5" destOrd="0" presId="urn:microsoft.com/office/officeart/2018/2/layout/IconVerticalSolidList"/>
    <dgm:cxn modelId="{E0955093-134D-4237-8094-C21D34E64314}" type="presParOf" srcId="{777825A8-131F-493E-A562-563FFE2C2147}" destId="{2A81840E-1439-46FB-8166-00C39035A980}" srcOrd="6" destOrd="0" presId="urn:microsoft.com/office/officeart/2018/2/layout/IconVerticalSolidList"/>
    <dgm:cxn modelId="{1E454E49-9A65-4809-B112-29AEC6EAA300}" type="presParOf" srcId="{2A81840E-1439-46FB-8166-00C39035A980}" destId="{DFF48304-4B5F-44A2-8FE1-7C4F67037E6B}" srcOrd="0" destOrd="0" presId="urn:microsoft.com/office/officeart/2018/2/layout/IconVerticalSolidList"/>
    <dgm:cxn modelId="{EA9A5413-89B9-47F5-AD04-C5C7F26AC58B}" type="presParOf" srcId="{2A81840E-1439-46FB-8166-00C39035A980}" destId="{9B96B263-2F1D-4F31-AC7E-21F36A68CBBF}" srcOrd="1" destOrd="0" presId="urn:microsoft.com/office/officeart/2018/2/layout/IconVerticalSolidList"/>
    <dgm:cxn modelId="{F93ABDA5-A154-4D50-AEE9-A36D9829A740}" type="presParOf" srcId="{2A81840E-1439-46FB-8166-00C39035A980}" destId="{583711FC-F259-48EB-B33D-2C8239A82226}" srcOrd="2" destOrd="0" presId="urn:microsoft.com/office/officeart/2018/2/layout/IconVerticalSolidList"/>
    <dgm:cxn modelId="{0C23C5B2-B312-4CBA-BBDA-E8B1594E64E9}" type="presParOf" srcId="{2A81840E-1439-46FB-8166-00C39035A980}" destId="{6BCB665C-9B92-49AB-9544-655686DD937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C0D9060-DF37-4000-8017-5059D10EAFE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829EBF5-4D6E-4CCC-9ED8-D6C4FC11233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2"/>
              </a:solidFill>
            </a:rPr>
            <a:t>Findings</a:t>
          </a:r>
        </a:p>
      </dgm:t>
    </dgm:pt>
    <dgm:pt modelId="{CFEC335A-CF90-4501-9DE9-7407EF0EFB33}" type="parTrans" cxnId="{76F6090A-AE21-4138-A729-4BC5AF2EE511}">
      <dgm:prSet/>
      <dgm:spPr/>
      <dgm:t>
        <a:bodyPr/>
        <a:lstStyle/>
        <a:p>
          <a:endParaRPr lang="en-US"/>
        </a:p>
      </dgm:t>
    </dgm:pt>
    <dgm:pt modelId="{559CF961-8059-4417-9E24-64F99D6DD15A}" type="sibTrans" cxnId="{76F6090A-AE21-4138-A729-4BC5AF2EE511}">
      <dgm:prSet/>
      <dgm:spPr/>
      <dgm:t>
        <a:bodyPr/>
        <a:lstStyle/>
        <a:p>
          <a:endParaRPr lang="en-US"/>
        </a:p>
      </dgm:t>
    </dgm:pt>
    <dgm:pt modelId="{476A3085-203C-44CA-A79B-79ACAE08BFE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2"/>
              </a:solidFill>
            </a:rPr>
            <a:t>JavaScript, SQL, and PostgreSQL are the current backbone of the developer stack</a:t>
          </a:r>
        </a:p>
      </dgm:t>
    </dgm:pt>
    <dgm:pt modelId="{4F5E2B3E-6E0A-4CE6-92B7-1792A46ADD1A}" type="parTrans" cxnId="{20F58203-CF0F-4E18-83C6-A6B94738E89C}">
      <dgm:prSet/>
      <dgm:spPr/>
      <dgm:t>
        <a:bodyPr/>
        <a:lstStyle/>
        <a:p>
          <a:endParaRPr lang="en-US"/>
        </a:p>
      </dgm:t>
    </dgm:pt>
    <dgm:pt modelId="{58BD3A2F-7464-4682-8583-44DCC81F33ED}" type="sibTrans" cxnId="{20F58203-CF0F-4E18-83C6-A6B94738E89C}">
      <dgm:prSet/>
      <dgm:spPr/>
      <dgm:t>
        <a:bodyPr/>
        <a:lstStyle/>
        <a:p>
          <a:endParaRPr lang="en-US"/>
        </a:p>
      </dgm:t>
    </dgm:pt>
    <dgm:pt modelId="{398CDBC1-CEA3-4B4D-A57E-18D6AC568D5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2"/>
              </a:solidFill>
            </a:rPr>
            <a:t>Go, Rust, Redis, and </a:t>
          </a:r>
          <a:r>
            <a:rPr lang="en-US" dirty="0" err="1">
              <a:solidFill>
                <a:schemeClr val="bg2"/>
              </a:solidFill>
            </a:rPr>
            <a:t>Supabase</a:t>
          </a:r>
          <a:r>
            <a:rPr lang="en-US" dirty="0">
              <a:solidFill>
                <a:schemeClr val="bg2"/>
              </a:solidFill>
            </a:rPr>
            <a:t> are the clearest rising technologies</a:t>
          </a:r>
        </a:p>
      </dgm:t>
    </dgm:pt>
    <dgm:pt modelId="{8870D883-C329-46D7-9961-DF4DDA334647}" type="parTrans" cxnId="{2074671D-9DCA-40CA-919C-B48F0B5961BF}">
      <dgm:prSet/>
      <dgm:spPr/>
      <dgm:t>
        <a:bodyPr/>
        <a:lstStyle/>
        <a:p>
          <a:endParaRPr lang="en-US"/>
        </a:p>
      </dgm:t>
    </dgm:pt>
    <dgm:pt modelId="{60CDF8F0-B158-4940-8985-15FDD3BC8501}" type="sibTrans" cxnId="{2074671D-9DCA-40CA-919C-B48F0B5961BF}">
      <dgm:prSet/>
      <dgm:spPr/>
      <dgm:t>
        <a:bodyPr/>
        <a:lstStyle/>
        <a:p>
          <a:endParaRPr lang="en-US"/>
        </a:p>
      </dgm:t>
    </dgm:pt>
    <dgm:pt modelId="{FAAEA55D-9738-4671-8B38-A7172FB761C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2"/>
              </a:solidFill>
            </a:rPr>
            <a:t>AWS and React/Node.js show strong, stable dominance</a:t>
          </a:r>
        </a:p>
      </dgm:t>
    </dgm:pt>
    <dgm:pt modelId="{2716B5C5-A84A-4147-A2F1-DED6399A24E4}" type="parTrans" cxnId="{0E6186AA-16DB-49BA-B8D6-3EFFB0EA525B}">
      <dgm:prSet/>
      <dgm:spPr/>
      <dgm:t>
        <a:bodyPr/>
        <a:lstStyle/>
        <a:p>
          <a:endParaRPr lang="en-US"/>
        </a:p>
      </dgm:t>
    </dgm:pt>
    <dgm:pt modelId="{EE338486-7C22-4C7B-AB95-2FF752DD45F1}" type="sibTrans" cxnId="{0E6186AA-16DB-49BA-B8D6-3EFFB0EA525B}">
      <dgm:prSet/>
      <dgm:spPr/>
      <dgm:t>
        <a:bodyPr/>
        <a:lstStyle/>
        <a:p>
          <a:endParaRPr lang="en-US"/>
        </a:p>
      </dgm:t>
    </dgm:pt>
    <dgm:pt modelId="{6EED976F-7C43-4B01-BD5B-B0365BA5098B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>
              <a:solidFill>
                <a:schemeClr val="bg2"/>
              </a:solidFill>
            </a:rPr>
            <a:t>Most respondents are 25-34 years old with a Bachelor's degree</a:t>
          </a:r>
        </a:p>
      </dgm:t>
    </dgm:pt>
    <dgm:pt modelId="{9D496559-6247-49C4-8A86-774B19123D93}" type="parTrans" cxnId="{CE4516F2-4D57-480B-BAAA-FE4DE68972C4}">
      <dgm:prSet/>
      <dgm:spPr/>
      <dgm:t>
        <a:bodyPr/>
        <a:lstStyle/>
        <a:p>
          <a:endParaRPr lang="en-US"/>
        </a:p>
      </dgm:t>
    </dgm:pt>
    <dgm:pt modelId="{33E13F44-6951-4A24-9402-BEB702AFF75F}" type="sibTrans" cxnId="{CE4516F2-4D57-480B-BAAA-FE4DE68972C4}">
      <dgm:prSet/>
      <dgm:spPr/>
      <dgm:t>
        <a:bodyPr/>
        <a:lstStyle/>
        <a:p>
          <a:endParaRPr lang="en-US"/>
        </a:p>
      </dgm:t>
    </dgm:pt>
    <dgm:pt modelId="{4F711229-DC2D-4150-A378-CD050EDF330F}" type="pres">
      <dgm:prSet presAssocID="{EC0D9060-DF37-4000-8017-5059D10EAFED}" presName="linear" presStyleCnt="0">
        <dgm:presLayoutVars>
          <dgm:animLvl val="lvl"/>
          <dgm:resizeHandles val="exact"/>
        </dgm:presLayoutVars>
      </dgm:prSet>
      <dgm:spPr/>
    </dgm:pt>
    <dgm:pt modelId="{F0E7BCF5-C74E-47AE-A686-FECF15974637}" type="pres">
      <dgm:prSet presAssocID="{0829EBF5-4D6E-4CCC-9ED8-D6C4FC11233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BBB4C98-D925-4FE9-B259-D571062EE5C7}" type="pres">
      <dgm:prSet presAssocID="{559CF961-8059-4417-9E24-64F99D6DD15A}" presName="spacer" presStyleCnt="0"/>
      <dgm:spPr/>
    </dgm:pt>
    <dgm:pt modelId="{1EB4B0DB-99A8-4AA9-AA42-2B74A02DDD36}" type="pres">
      <dgm:prSet presAssocID="{476A3085-203C-44CA-A79B-79ACAE08BFE0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23B168E-B710-495F-A7DC-53F0DA4BF980}" type="pres">
      <dgm:prSet presAssocID="{58BD3A2F-7464-4682-8583-44DCC81F33ED}" presName="spacer" presStyleCnt="0"/>
      <dgm:spPr/>
    </dgm:pt>
    <dgm:pt modelId="{FBC3C01F-E0C7-46BC-9085-7E6318345956}" type="pres">
      <dgm:prSet presAssocID="{398CDBC1-CEA3-4B4D-A57E-18D6AC568D52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9ED94DD-4341-4C7F-8E8B-3C9ADDC73439}" type="pres">
      <dgm:prSet presAssocID="{60CDF8F0-B158-4940-8985-15FDD3BC8501}" presName="spacer" presStyleCnt="0"/>
      <dgm:spPr/>
    </dgm:pt>
    <dgm:pt modelId="{C4F41C74-ED00-46C0-8C7F-F6DC87E884E2}" type="pres">
      <dgm:prSet presAssocID="{FAAEA55D-9738-4671-8B38-A7172FB761C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80769AA4-1DF5-456E-BE19-B1E7411449C7}" type="pres">
      <dgm:prSet presAssocID="{EE338486-7C22-4C7B-AB95-2FF752DD45F1}" presName="spacer" presStyleCnt="0"/>
      <dgm:spPr/>
    </dgm:pt>
    <dgm:pt modelId="{2F6B158E-F93D-4A67-892A-AE064681A62D}" type="pres">
      <dgm:prSet presAssocID="{6EED976F-7C43-4B01-BD5B-B0365BA5098B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0F58203-CF0F-4E18-83C6-A6B94738E89C}" srcId="{EC0D9060-DF37-4000-8017-5059D10EAFED}" destId="{476A3085-203C-44CA-A79B-79ACAE08BFE0}" srcOrd="1" destOrd="0" parTransId="{4F5E2B3E-6E0A-4CE6-92B7-1792A46ADD1A}" sibTransId="{58BD3A2F-7464-4682-8583-44DCC81F33ED}"/>
    <dgm:cxn modelId="{76F6090A-AE21-4138-A729-4BC5AF2EE511}" srcId="{EC0D9060-DF37-4000-8017-5059D10EAFED}" destId="{0829EBF5-4D6E-4CCC-9ED8-D6C4FC11233C}" srcOrd="0" destOrd="0" parTransId="{CFEC335A-CF90-4501-9DE9-7407EF0EFB33}" sibTransId="{559CF961-8059-4417-9E24-64F99D6DD15A}"/>
    <dgm:cxn modelId="{2074671D-9DCA-40CA-919C-B48F0B5961BF}" srcId="{EC0D9060-DF37-4000-8017-5059D10EAFED}" destId="{398CDBC1-CEA3-4B4D-A57E-18D6AC568D52}" srcOrd="2" destOrd="0" parTransId="{8870D883-C329-46D7-9961-DF4DDA334647}" sibTransId="{60CDF8F0-B158-4940-8985-15FDD3BC8501}"/>
    <dgm:cxn modelId="{B968806D-D46B-4831-AF5A-EEEEADE66CF5}" type="presOf" srcId="{6EED976F-7C43-4B01-BD5B-B0365BA5098B}" destId="{2F6B158E-F93D-4A67-892A-AE064681A62D}" srcOrd="0" destOrd="0" presId="urn:microsoft.com/office/officeart/2005/8/layout/vList2"/>
    <dgm:cxn modelId="{867E5D78-4FD8-413D-9DF1-A131F9E7CE0E}" type="presOf" srcId="{EC0D9060-DF37-4000-8017-5059D10EAFED}" destId="{4F711229-DC2D-4150-A378-CD050EDF330F}" srcOrd="0" destOrd="0" presId="urn:microsoft.com/office/officeart/2005/8/layout/vList2"/>
    <dgm:cxn modelId="{431CD59A-4057-4A1B-845A-59DB29C90EC6}" type="presOf" srcId="{476A3085-203C-44CA-A79B-79ACAE08BFE0}" destId="{1EB4B0DB-99A8-4AA9-AA42-2B74A02DDD36}" srcOrd="0" destOrd="0" presId="urn:microsoft.com/office/officeart/2005/8/layout/vList2"/>
    <dgm:cxn modelId="{2F6C7B9E-2856-4EA9-A32D-C0BAEBB6A484}" type="presOf" srcId="{FAAEA55D-9738-4671-8B38-A7172FB761C3}" destId="{C4F41C74-ED00-46C0-8C7F-F6DC87E884E2}" srcOrd="0" destOrd="0" presId="urn:microsoft.com/office/officeart/2005/8/layout/vList2"/>
    <dgm:cxn modelId="{0E6186AA-16DB-49BA-B8D6-3EFFB0EA525B}" srcId="{EC0D9060-DF37-4000-8017-5059D10EAFED}" destId="{FAAEA55D-9738-4671-8B38-A7172FB761C3}" srcOrd="3" destOrd="0" parTransId="{2716B5C5-A84A-4147-A2F1-DED6399A24E4}" sibTransId="{EE338486-7C22-4C7B-AB95-2FF752DD45F1}"/>
    <dgm:cxn modelId="{DC19F9E7-20AD-42FA-862E-9A1993E60BB1}" type="presOf" srcId="{398CDBC1-CEA3-4B4D-A57E-18D6AC568D52}" destId="{FBC3C01F-E0C7-46BC-9085-7E6318345956}" srcOrd="0" destOrd="0" presId="urn:microsoft.com/office/officeart/2005/8/layout/vList2"/>
    <dgm:cxn modelId="{0D0585ED-B937-47ED-82D3-06235EF3694E}" type="presOf" srcId="{0829EBF5-4D6E-4CCC-9ED8-D6C4FC11233C}" destId="{F0E7BCF5-C74E-47AE-A686-FECF15974637}" srcOrd="0" destOrd="0" presId="urn:microsoft.com/office/officeart/2005/8/layout/vList2"/>
    <dgm:cxn modelId="{CE4516F2-4D57-480B-BAAA-FE4DE68972C4}" srcId="{EC0D9060-DF37-4000-8017-5059D10EAFED}" destId="{6EED976F-7C43-4B01-BD5B-B0365BA5098B}" srcOrd="4" destOrd="0" parTransId="{9D496559-6247-49C4-8A86-774B19123D93}" sibTransId="{33E13F44-6951-4A24-9402-BEB702AFF75F}"/>
    <dgm:cxn modelId="{D8F9983D-5906-47CB-AD3C-4B8D3A406572}" type="presParOf" srcId="{4F711229-DC2D-4150-A378-CD050EDF330F}" destId="{F0E7BCF5-C74E-47AE-A686-FECF15974637}" srcOrd="0" destOrd="0" presId="urn:microsoft.com/office/officeart/2005/8/layout/vList2"/>
    <dgm:cxn modelId="{85DFD7CF-085D-435B-BDB6-39CAB1168963}" type="presParOf" srcId="{4F711229-DC2D-4150-A378-CD050EDF330F}" destId="{DBBB4C98-D925-4FE9-B259-D571062EE5C7}" srcOrd="1" destOrd="0" presId="urn:microsoft.com/office/officeart/2005/8/layout/vList2"/>
    <dgm:cxn modelId="{F1582415-3682-4374-B9CB-1E6BC9011DD2}" type="presParOf" srcId="{4F711229-DC2D-4150-A378-CD050EDF330F}" destId="{1EB4B0DB-99A8-4AA9-AA42-2B74A02DDD36}" srcOrd="2" destOrd="0" presId="urn:microsoft.com/office/officeart/2005/8/layout/vList2"/>
    <dgm:cxn modelId="{718E8321-5E54-45BE-9766-CA23B1DF0958}" type="presParOf" srcId="{4F711229-DC2D-4150-A378-CD050EDF330F}" destId="{123B168E-B710-495F-A7DC-53F0DA4BF980}" srcOrd="3" destOrd="0" presId="urn:microsoft.com/office/officeart/2005/8/layout/vList2"/>
    <dgm:cxn modelId="{81F683F1-C9B2-4947-AE7F-6EAE55C78652}" type="presParOf" srcId="{4F711229-DC2D-4150-A378-CD050EDF330F}" destId="{FBC3C01F-E0C7-46BC-9085-7E6318345956}" srcOrd="4" destOrd="0" presId="urn:microsoft.com/office/officeart/2005/8/layout/vList2"/>
    <dgm:cxn modelId="{9B6D98CE-7DB1-48C8-BDDA-5A83828D381D}" type="presParOf" srcId="{4F711229-DC2D-4150-A378-CD050EDF330F}" destId="{D9ED94DD-4341-4C7F-8E8B-3C9ADDC73439}" srcOrd="5" destOrd="0" presId="urn:microsoft.com/office/officeart/2005/8/layout/vList2"/>
    <dgm:cxn modelId="{7F81F4C7-11E9-49FD-A30F-4D4C645A4249}" type="presParOf" srcId="{4F711229-DC2D-4150-A378-CD050EDF330F}" destId="{C4F41C74-ED00-46C0-8C7F-F6DC87E884E2}" srcOrd="6" destOrd="0" presId="urn:microsoft.com/office/officeart/2005/8/layout/vList2"/>
    <dgm:cxn modelId="{BDBAACAA-D699-432C-BF5C-C676164EF218}" type="presParOf" srcId="{4F711229-DC2D-4150-A378-CD050EDF330F}" destId="{80769AA4-1DF5-456E-BE19-B1E7411449C7}" srcOrd="7" destOrd="0" presId="urn:microsoft.com/office/officeart/2005/8/layout/vList2"/>
    <dgm:cxn modelId="{D9D3FE72-03D8-4EF2-9AB9-BF032098AA04}" type="presParOf" srcId="{4F711229-DC2D-4150-A378-CD050EDF330F}" destId="{2F6B158E-F93D-4A67-892A-AE064681A62D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943A6D-3BB4-490E-921E-6B9EDF86A046}">
      <dsp:nvSpPr>
        <dsp:cNvPr id="0" name=""/>
        <dsp:cNvSpPr/>
      </dsp:nvSpPr>
      <dsp:spPr>
        <a:xfrm>
          <a:off x="0" y="1897"/>
          <a:ext cx="5181600" cy="961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8AC93D-2C86-4179-A72D-D5FFE9B27D1A}">
      <dsp:nvSpPr>
        <dsp:cNvPr id="0" name=""/>
        <dsp:cNvSpPr/>
      </dsp:nvSpPr>
      <dsp:spPr>
        <a:xfrm>
          <a:off x="290922" y="218286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FB6A3F-989A-4EA3-B4A0-2266AF9CCC60}">
      <dsp:nvSpPr>
        <dsp:cNvPr id="0" name=""/>
        <dsp:cNvSpPr/>
      </dsp:nvSpPr>
      <dsp:spPr>
        <a:xfrm>
          <a:off x="1110795" y="1897"/>
          <a:ext cx="407080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Findings</a:t>
          </a:r>
        </a:p>
      </dsp:txBody>
      <dsp:txXfrm>
        <a:off x="1110795" y="1897"/>
        <a:ext cx="4070804" cy="961727"/>
      </dsp:txXfrm>
    </dsp:sp>
    <dsp:sp modelId="{C10E892E-C0CC-437F-AC0A-FAC0FF5E17CE}">
      <dsp:nvSpPr>
        <dsp:cNvPr id="0" name=""/>
        <dsp:cNvSpPr/>
      </dsp:nvSpPr>
      <dsp:spPr>
        <a:xfrm>
          <a:off x="0" y="1204056"/>
          <a:ext cx="5181600" cy="961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D38322-F4C1-4778-A7FE-4BC6C397EE02}">
      <dsp:nvSpPr>
        <dsp:cNvPr id="0" name=""/>
        <dsp:cNvSpPr/>
      </dsp:nvSpPr>
      <dsp:spPr>
        <a:xfrm>
          <a:off x="290922" y="1420445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6265C5-9E7F-4C70-B0CB-68CB57A5F7B8}">
      <dsp:nvSpPr>
        <dsp:cNvPr id="0" name=""/>
        <dsp:cNvSpPr/>
      </dsp:nvSpPr>
      <dsp:spPr>
        <a:xfrm>
          <a:off x="1110795" y="1204056"/>
          <a:ext cx="407080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JavaScript, SQL, and HTML/CSS are the most-used languages today</a:t>
          </a:r>
        </a:p>
      </dsp:txBody>
      <dsp:txXfrm>
        <a:off x="1110795" y="1204056"/>
        <a:ext cx="4070804" cy="961727"/>
      </dsp:txXfrm>
    </dsp:sp>
    <dsp:sp modelId="{977743E7-AF28-4133-B42E-D06B8E6772F4}">
      <dsp:nvSpPr>
        <dsp:cNvPr id="0" name=""/>
        <dsp:cNvSpPr/>
      </dsp:nvSpPr>
      <dsp:spPr>
        <a:xfrm>
          <a:off x="0" y="2406215"/>
          <a:ext cx="5181600" cy="961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256431-9C17-4729-B686-A6EFD02480A0}">
      <dsp:nvSpPr>
        <dsp:cNvPr id="0" name=""/>
        <dsp:cNvSpPr/>
      </dsp:nvSpPr>
      <dsp:spPr>
        <a:xfrm>
          <a:off x="290922" y="2622604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66A5E3-BAA8-441B-A695-8BC8760A6A3B}">
      <dsp:nvSpPr>
        <dsp:cNvPr id="0" name=""/>
        <dsp:cNvSpPr/>
      </dsp:nvSpPr>
      <dsp:spPr>
        <a:xfrm>
          <a:off x="1110795" y="2406215"/>
          <a:ext cx="407080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Python and TypeScript follow closely behind</a:t>
          </a:r>
        </a:p>
      </dsp:txBody>
      <dsp:txXfrm>
        <a:off x="1110795" y="2406215"/>
        <a:ext cx="4070804" cy="961727"/>
      </dsp:txXfrm>
    </dsp:sp>
    <dsp:sp modelId="{B90A761B-A92C-41A2-AB21-0587C61A3387}">
      <dsp:nvSpPr>
        <dsp:cNvPr id="0" name=""/>
        <dsp:cNvSpPr/>
      </dsp:nvSpPr>
      <dsp:spPr>
        <a:xfrm>
          <a:off x="0" y="3608375"/>
          <a:ext cx="5181600" cy="961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DEA732-51CD-4497-B70A-53A0F835666D}">
      <dsp:nvSpPr>
        <dsp:cNvPr id="0" name=""/>
        <dsp:cNvSpPr/>
      </dsp:nvSpPr>
      <dsp:spPr>
        <a:xfrm>
          <a:off x="290922" y="3824763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EED216-2194-4B06-85BC-0E6730FD7AC2}">
      <dsp:nvSpPr>
        <dsp:cNvPr id="0" name=""/>
        <dsp:cNvSpPr/>
      </dsp:nvSpPr>
      <dsp:spPr>
        <a:xfrm>
          <a:off x="1110795" y="3608375"/>
          <a:ext cx="407080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Go and Rust newly enter the top 10 for future interest, while Java drops</a:t>
          </a:r>
        </a:p>
      </dsp:txBody>
      <dsp:txXfrm>
        <a:off x="1110795" y="3608375"/>
        <a:ext cx="4070804" cy="9617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9761C3-2BF2-43CA-953F-ED2975952681}">
      <dsp:nvSpPr>
        <dsp:cNvPr id="0" name=""/>
        <dsp:cNvSpPr/>
      </dsp:nvSpPr>
      <dsp:spPr>
        <a:xfrm>
          <a:off x="0" y="1897"/>
          <a:ext cx="5181600" cy="961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D76BC6-9F93-4411-8CC0-C3BD92EDF794}">
      <dsp:nvSpPr>
        <dsp:cNvPr id="0" name=""/>
        <dsp:cNvSpPr/>
      </dsp:nvSpPr>
      <dsp:spPr>
        <a:xfrm>
          <a:off x="290922" y="218286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C48A21-35A5-43CF-BE4B-F8F821CEB455}">
      <dsp:nvSpPr>
        <dsp:cNvPr id="0" name=""/>
        <dsp:cNvSpPr/>
      </dsp:nvSpPr>
      <dsp:spPr>
        <a:xfrm>
          <a:off x="1110795" y="1897"/>
          <a:ext cx="407080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Findings</a:t>
          </a:r>
        </a:p>
      </dsp:txBody>
      <dsp:txXfrm>
        <a:off x="1110795" y="1897"/>
        <a:ext cx="4070804" cy="961727"/>
      </dsp:txXfrm>
    </dsp:sp>
    <dsp:sp modelId="{AA03C4EC-9030-4EAF-A53C-6DE5F32F93A7}">
      <dsp:nvSpPr>
        <dsp:cNvPr id="0" name=""/>
        <dsp:cNvSpPr/>
      </dsp:nvSpPr>
      <dsp:spPr>
        <a:xfrm>
          <a:off x="0" y="1204056"/>
          <a:ext cx="5181600" cy="961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F594B4-3EC8-4594-A73A-8986F21D1A38}">
      <dsp:nvSpPr>
        <dsp:cNvPr id="0" name=""/>
        <dsp:cNvSpPr/>
      </dsp:nvSpPr>
      <dsp:spPr>
        <a:xfrm>
          <a:off x="290922" y="1420445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7E315C-546D-49D4-A521-E76E8D5DD621}">
      <dsp:nvSpPr>
        <dsp:cNvPr id="0" name=""/>
        <dsp:cNvSpPr/>
      </dsp:nvSpPr>
      <dsp:spPr>
        <a:xfrm>
          <a:off x="1110795" y="1204056"/>
          <a:ext cx="407080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PostgreSQL is the clear leader today and its lead widens for future interest</a:t>
          </a:r>
        </a:p>
      </dsp:txBody>
      <dsp:txXfrm>
        <a:off x="1110795" y="1204056"/>
        <a:ext cx="4070804" cy="961727"/>
      </dsp:txXfrm>
    </dsp:sp>
    <dsp:sp modelId="{D8A83DA9-1BA9-46CB-8BA9-4AC894492C81}">
      <dsp:nvSpPr>
        <dsp:cNvPr id="0" name=""/>
        <dsp:cNvSpPr/>
      </dsp:nvSpPr>
      <dsp:spPr>
        <a:xfrm>
          <a:off x="0" y="2406215"/>
          <a:ext cx="5181600" cy="961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FE8E69-1B4D-49D8-9E7E-099438572127}">
      <dsp:nvSpPr>
        <dsp:cNvPr id="0" name=""/>
        <dsp:cNvSpPr/>
      </dsp:nvSpPr>
      <dsp:spPr>
        <a:xfrm>
          <a:off x="290922" y="2622604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5EB3FD-60EF-4F9F-A3B6-A2F415525A79}">
      <dsp:nvSpPr>
        <dsp:cNvPr id="0" name=""/>
        <dsp:cNvSpPr/>
      </dsp:nvSpPr>
      <dsp:spPr>
        <a:xfrm>
          <a:off x="1110795" y="2406215"/>
          <a:ext cx="407080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MySQL and SQLite remain popular, but Redis climbs sharply in future interest</a:t>
          </a:r>
        </a:p>
      </dsp:txBody>
      <dsp:txXfrm>
        <a:off x="1110795" y="2406215"/>
        <a:ext cx="4070804" cy="961727"/>
      </dsp:txXfrm>
    </dsp:sp>
    <dsp:sp modelId="{DFF48304-4B5F-44A2-8FE1-7C4F67037E6B}">
      <dsp:nvSpPr>
        <dsp:cNvPr id="0" name=""/>
        <dsp:cNvSpPr/>
      </dsp:nvSpPr>
      <dsp:spPr>
        <a:xfrm>
          <a:off x="0" y="3608375"/>
          <a:ext cx="5181600" cy="96172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96B263-2F1D-4F31-AC7E-21F36A68CBBF}">
      <dsp:nvSpPr>
        <dsp:cNvPr id="0" name=""/>
        <dsp:cNvSpPr/>
      </dsp:nvSpPr>
      <dsp:spPr>
        <a:xfrm>
          <a:off x="290922" y="3824763"/>
          <a:ext cx="528950" cy="5289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CB665C-9B92-49AB-9544-655686DD9379}">
      <dsp:nvSpPr>
        <dsp:cNvPr id="0" name=""/>
        <dsp:cNvSpPr/>
      </dsp:nvSpPr>
      <dsp:spPr>
        <a:xfrm>
          <a:off x="1110795" y="3608375"/>
          <a:ext cx="4070804" cy="961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783" tIns="101783" rIns="101783" bIns="101783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Supabase emerges as a new top-10 database for future adoption</a:t>
          </a:r>
        </a:p>
      </dsp:txBody>
      <dsp:txXfrm>
        <a:off x="1110795" y="3608375"/>
        <a:ext cx="4070804" cy="9617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E7BCF5-C74E-47AE-A686-FECF15974637}">
      <dsp:nvSpPr>
        <dsp:cNvPr id="0" name=""/>
        <dsp:cNvSpPr/>
      </dsp:nvSpPr>
      <dsp:spPr>
        <a:xfrm>
          <a:off x="0" y="87651"/>
          <a:ext cx="5181600" cy="833259"/>
        </a:xfrm>
        <a:prstGeom prst="round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2"/>
              </a:solidFill>
            </a:rPr>
            <a:t>Findings</a:t>
          </a:r>
        </a:p>
      </dsp:txBody>
      <dsp:txXfrm>
        <a:off x="40676" y="128327"/>
        <a:ext cx="5100248" cy="751907"/>
      </dsp:txXfrm>
    </dsp:sp>
    <dsp:sp modelId="{1EB4B0DB-99A8-4AA9-AA42-2B74A02DDD36}">
      <dsp:nvSpPr>
        <dsp:cNvPr id="0" name=""/>
        <dsp:cNvSpPr/>
      </dsp:nvSpPr>
      <dsp:spPr>
        <a:xfrm>
          <a:off x="0" y="978510"/>
          <a:ext cx="5181600" cy="833259"/>
        </a:xfrm>
        <a:prstGeom prst="round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2"/>
              </a:solidFill>
            </a:rPr>
            <a:t>JavaScript, SQL, and PostgreSQL are the current backbone of the developer stack</a:t>
          </a:r>
        </a:p>
      </dsp:txBody>
      <dsp:txXfrm>
        <a:off x="40676" y="1019186"/>
        <a:ext cx="5100248" cy="751907"/>
      </dsp:txXfrm>
    </dsp:sp>
    <dsp:sp modelId="{FBC3C01F-E0C7-46BC-9085-7E6318345956}">
      <dsp:nvSpPr>
        <dsp:cNvPr id="0" name=""/>
        <dsp:cNvSpPr/>
      </dsp:nvSpPr>
      <dsp:spPr>
        <a:xfrm>
          <a:off x="0" y="1869370"/>
          <a:ext cx="5181600" cy="833259"/>
        </a:xfrm>
        <a:prstGeom prst="round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2"/>
              </a:solidFill>
            </a:rPr>
            <a:t>Go, Rust, Redis, and </a:t>
          </a:r>
          <a:r>
            <a:rPr lang="en-US" sz="2000" kern="1200" dirty="0" err="1">
              <a:solidFill>
                <a:schemeClr val="bg2"/>
              </a:solidFill>
            </a:rPr>
            <a:t>Supabase</a:t>
          </a:r>
          <a:r>
            <a:rPr lang="en-US" sz="2000" kern="1200" dirty="0">
              <a:solidFill>
                <a:schemeClr val="bg2"/>
              </a:solidFill>
            </a:rPr>
            <a:t> are the clearest rising technologies</a:t>
          </a:r>
        </a:p>
      </dsp:txBody>
      <dsp:txXfrm>
        <a:off x="40676" y="1910046"/>
        <a:ext cx="5100248" cy="751907"/>
      </dsp:txXfrm>
    </dsp:sp>
    <dsp:sp modelId="{C4F41C74-ED00-46C0-8C7F-F6DC87E884E2}">
      <dsp:nvSpPr>
        <dsp:cNvPr id="0" name=""/>
        <dsp:cNvSpPr/>
      </dsp:nvSpPr>
      <dsp:spPr>
        <a:xfrm>
          <a:off x="0" y="2760229"/>
          <a:ext cx="5181600" cy="833259"/>
        </a:xfrm>
        <a:prstGeom prst="round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2"/>
              </a:solidFill>
            </a:rPr>
            <a:t>AWS and React/Node.js show strong, stable dominance</a:t>
          </a:r>
        </a:p>
      </dsp:txBody>
      <dsp:txXfrm>
        <a:off x="40676" y="2800905"/>
        <a:ext cx="5100248" cy="751907"/>
      </dsp:txXfrm>
    </dsp:sp>
    <dsp:sp modelId="{2F6B158E-F93D-4A67-892A-AE064681A62D}">
      <dsp:nvSpPr>
        <dsp:cNvPr id="0" name=""/>
        <dsp:cNvSpPr/>
      </dsp:nvSpPr>
      <dsp:spPr>
        <a:xfrm>
          <a:off x="0" y="3651089"/>
          <a:ext cx="5181600" cy="833259"/>
        </a:xfrm>
        <a:prstGeom prst="roundRect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bg2"/>
              </a:solidFill>
            </a:rPr>
            <a:t>Most respondents are 25-34 years old with a Bachelor's degree</a:t>
          </a:r>
        </a:p>
      </dsp:txBody>
      <dsp:txXfrm>
        <a:off x="40676" y="3691765"/>
        <a:ext cx="5100248" cy="7519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25-Jul-26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6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Stack Overflow Developer Survey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>
            <a:normAutofit/>
          </a:bodyPr>
          <a:lstStyle/>
          <a:p>
            <a:r>
              <a:rPr lang="en-US" dirty="0"/>
              <a:t>Technology Trends &amp; Developer Demographics Capstone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992" y="1600200"/>
            <a:ext cx="5038015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0" kern="1200"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rPr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838200" y="1600200"/>
            <a:ext cx="51816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/>
              <a:t>Analyzed Stack Overflow Developer Survey responses to identify current and emerging technology trends</a:t>
            </a:r>
          </a:p>
          <a:p>
            <a:r>
              <a:rPr lang="en-US" sz="1500"/>
              <a:t>JavaScript, SQL, and HTML/CSS remain the most widely used languages, while PostgreSQL leads as the top database</a:t>
            </a:r>
          </a:p>
          <a:p>
            <a:pPr marL="228600" lvl="1">
              <a:spcBef>
                <a:spcPts val="1000"/>
              </a:spcBef>
            </a:pPr>
            <a:r>
              <a:rPr lang="en-US" sz="1500"/>
              <a:t>Go and Rust show the strongest upward momentum among languages developers want to learn</a:t>
            </a:r>
          </a:p>
          <a:p>
            <a:pPr marL="228600" lvl="1">
              <a:spcBef>
                <a:spcPts val="1000"/>
              </a:spcBef>
            </a:pPr>
            <a:r>
              <a:rPr lang="en-US" sz="1500"/>
              <a:t>AWS dominates cloud platform usage, both currently and for future adoption</a:t>
            </a:r>
          </a:p>
          <a:p>
            <a:pPr marL="228600" lvl="1">
              <a:spcBef>
                <a:spcPts val="1000"/>
              </a:spcBef>
            </a:pPr>
            <a:r>
              <a:rPr lang="en-US" sz="1500"/>
              <a:t>React and Node.js are the leading web frameworks in both current use and future interest</a:t>
            </a:r>
          </a:p>
          <a:p>
            <a:r>
              <a:rPr lang="en-US" sz="1500"/>
              <a:t>Most respondents are aged 25-34 (41.3%) and hold a Bachelor's degree</a:t>
            </a:r>
          </a:p>
          <a:p>
            <a:r>
              <a:rPr lang="en-US" sz="1500"/>
              <a:t>Findings support recommendations for training, tooling, and hiring priorities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63" r="5" b="5306"/>
          <a:stretch>
            <a:fillRect/>
          </a:stretch>
        </p:blipFill>
        <p:spPr>
          <a:xfrm>
            <a:off x="6172200" y="1600200"/>
            <a:ext cx="5181600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0" kern="1200"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rPr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600200"/>
            <a:ext cx="4572000" cy="4572000"/>
          </a:xfrm>
          <a:prstGeom prst="rect">
            <a:avLst/>
          </a:prstGeom>
          <a:noFill/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6172200" y="1600200"/>
            <a:ext cx="51816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>
                <a:solidFill>
                  <a:srgbClr val="262626"/>
                </a:solidFill>
                <a:latin typeface="IBM Plex Sans" panose="020B0503050203000203" pitchFamily="34" charset="0"/>
              </a:rPr>
              <a:t>The Stack Overflow Developer Survey captures how developers work, what tools they use, and where the industry is heading</a:t>
            </a:r>
          </a:p>
          <a:p>
            <a:r>
              <a:rPr lang="en-US" sz="2000">
                <a:solidFill>
                  <a:srgbClr val="262626"/>
                </a:solidFill>
                <a:latin typeface="IBM Plex Sans" panose="020B0503050203000203" pitchFamily="34" charset="0"/>
              </a:rPr>
              <a:t>This project analyzes responses on programming languages, databases, platforms, and web frameworks</a:t>
            </a:r>
          </a:p>
          <a:p>
            <a:r>
              <a:rPr lang="en-US" sz="2000">
                <a:solidFill>
                  <a:srgbClr val="262626"/>
                </a:solidFill>
                <a:latin typeface="IBM Plex Sans" panose="020B0503050203000203" pitchFamily="34" charset="0"/>
              </a:rPr>
              <a:t>Goal: identify current technology adoption patterns and forecast future trends</a:t>
            </a:r>
          </a:p>
          <a:p>
            <a:r>
              <a:rPr lang="en-US" sz="2000">
                <a:solidFill>
                  <a:srgbClr val="262626"/>
                </a:solidFill>
                <a:latin typeface="IBM Plex Sans" panose="020B0503050203000203" pitchFamily="34" charset="0"/>
              </a:rPr>
              <a:t>Deliverables include exploratory analysis, an interactive Cognos dashboard, and this summary presentation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0" kern="1200"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838200" y="1600200"/>
            <a:ext cx="51816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/>
              <a:t>Data cleaned and analyzed in Python using Jupyter notebooks</a:t>
            </a:r>
          </a:p>
          <a:p>
            <a:r>
              <a:rPr lang="en-US" sz="1800" dirty="0"/>
              <a:t>Multi-select survey fields (languages, databases, platforms, frameworks) split and exploded for accurate counting</a:t>
            </a:r>
          </a:p>
          <a:p>
            <a:r>
              <a:rPr lang="en-US" sz="1800" dirty="0"/>
              <a:t>Top-10 rankings computed for current usage and future interest across each technology category</a:t>
            </a:r>
          </a:p>
          <a:p>
            <a:r>
              <a:rPr lang="en-US" sz="1800" dirty="0"/>
              <a:t>Interactive dashboards built in IBM Cognos Analytics across three tabs</a:t>
            </a:r>
          </a:p>
          <a:p>
            <a:pPr marL="228600" lvl="1">
              <a:spcBef>
                <a:spcPts val="1000"/>
              </a:spcBef>
            </a:pPr>
            <a:r>
              <a:rPr lang="en-US" sz="1800" dirty="0"/>
              <a:t>Current Technology Usage, Future Technology Trend, and Demographics</a:t>
            </a:r>
          </a:p>
          <a:p>
            <a:pPr marL="228600" lvl="1">
              <a:spcBef>
                <a:spcPts val="1000"/>
              </a:spcBef>
            </a:pPr>
            <a:r>
              <a:rPr lang="en-US" sz="1800" dirty="0"/>
              <a:t>Exploded multi-select fields pre-processed into separate CSVs before upload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600200"/>
            <a:ext cx="4572000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3F900-F166-BEB7-F740-8C872536D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210DC-B757-47AF-44F4-D6EC9F4BF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0" kern="1200" dirty="0"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rPr>
              <a:t>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5E5F4-4D1C-1C94-42E2-F1D8E64069F5}"/>
              </a:ext>
            </a:extLst>
          </p:cNvPr>
          <p:cNvSpPr txBox="1"/>
          <p:nvPr/>
        </p:nvSpPr>
        <p:spPr>
          <a:xfrm>
            <a:off x="838200" y="1600199"/>
            <a:ext cx="107442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solidFill>
                  <a:srgbClr val="262626"/>
                </a:solidFill>
                <a:latin typeface="IBM Plex Sans" panose="020B0503050203000203" pitchFamily="34" charset="0"/>
              </a:rPr>
              <a:t>JavaScript, SQL, and HTML/CSS are the most widely used programming languages.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solidFill>
                  <a:srgbClr val="262626"/>
                </a:solidFill>
                <a:latin typeface="IBM Plex Sans" panose="020B0503050203000203" pitchFamily="34" charset="0"/>
              </a:rPr>
              <a:t>PostgreSQL is the most popular database, with increasing interest for future adoption.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solidFill>
                  <a:srgbClr val="262626"/>
                </a:solidFill>
                <a:latin typeface="IBM Plex Sans" panose="020B0503050203000203" pitchFamily="34" charset="0"/>
              </a:rPr>
              <a:t>Go and Rust show the highest growth in technologies developers want to learn.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solidFill>
                  <a:srgbClr val="262626"/>
                </a:solidFill>
                <a:latin typeface="IBM Plex Sans" panose="020B0503050203000203" pitchFamily="34" charset="0"/>
              </a:rPr>
              <a:t>AWS is the leading cloud platform for both current use and future preference.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solidFill>
                  <a:srgbClr val="262626"/>
                </a:solidFill>
                <a:latin typeface="IBM Plex Sans" panose="020B0503050203000203" pitchFamily="34" charset="0"/>
              </a:rPr>
              <a:t>React and Node.js remain the most commonly used web frameworks. 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2400" dirty="0">
                <a:solidFill>
                  <a:srgbClr val="262626"/>
                </a:solidFill>
                <a:latin typeface="IBM Plex Sans" panose="020B0503050203000203" pitchFamily="34" charset="0"/>
              </a:rPr>
              <a:t>The majority of survey respondents are 25–34 years old and hold a Bachelor's degree.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endParaRPr lang="en-US" sz="2400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5908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514060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14059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pic>
        <p:nvPicPr>
          <p:cNvPr id="10" name="Picture 9" descr="lang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366" y="2134872"/>
            <a:ext cx="5336634" cy="3670301"/>
          </a:xfrm>
          <a:prstGeom prst="rect">
            <a:avLst/>
          </a:prstGeom>
        </p:spPr>
      </p:pic>
      <p:pic>
        <p:nvPicPr>
          <p:cNvPr id="11" name="Picture 10" descr="lang_fu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134872"/>
            <a:ext cx="5409363" cy="36703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81838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PROGRAMMING LANGUAGE TRENDS - FINDINGS &amp; IMPLICATIONS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r>
              <a:rPr lang="en-US" dirty="0"/>
              <a:t>Continue prioritizing JavaScript/TypeScript tooling and training</a:t>
            </a:r>
          </a:p>
          <a:p>
            <a:pPr marL="0" indent="0">
              <a:buNone/>
            </a:pPr>
            <a:r>
              <a:rPr lang="en-US" dirty="0"/>
              <a:t>Invest in Go and Rust skill-building to stay ahead of demand</a:t>
            </a:r>
          </a:p>
          <a:p>
            <a:pPr marL="0" indent="0">
              <a:buNone/>
            </a:pPr>
            <a:r>
              <a:rPr lang="en-US" dirty="0"/>
              <a:t>Monitor Java's declining future interest when planning legacy system staffing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6C81F0B-BAA7-2EA4-F238-228210EAE3F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23203646"/>
              </p:ext>
            </p:extLst>
          </p:nvPr>
        </p:nvGraphicFramePr>
        <p:xfrm>
          <a:off x="6172200" y="1600200"/>
          <a:ext cx="51816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2584" y="1574655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74654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pic>
        <p:nvPicPr>
          <p:cNvPr id="5" name="Picture 4" descr="db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584" y="2076593"/>
            <a:ext cx="5233416" cy="3670301"/>
          </a:xfrm>
          <a:prstGeom prst="rect">
            <a:avLst/>
          </a:prstGeom>
        </p:spPr>
      </p:pic>
      <p:pic>
        <p:nvPicPr>
          <p:cNvPr id="6" name="Picture 5" descr="db_fu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076592"/>
            <a:ext cx="5509846" cy="367030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1596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/>
              <a:t>Implications</a:t>
            </a:r>
          </a:p>
          <a:p>
            <a:pPr marL="0" indent="0">
              <a:buNone/>
            </a:pPr>
            <a:r>
              <a:rPr lang="en-US" sz="2600"/>
              <a:t>PostgreSQL should be the default recommendation for new projects</a:t>
            </a:r>
          </a:p>
          <a:p>
            <a:pPr marL="0" indent="0">
              <a:buNone/>
            </a:pPr>
            <a:r>
              <a:rPr lang="en-US" sz="2600"/>
              <a:t>Growing Redis interest suggests increasing demand for caching/real-time use cases</a:t>
            </a:r>
          </a:p>
          <a:p>
            <a:pPr marL="0" indent="0">
              <a:buNone/>
            </a:pPr>
            <a:r>
              <a:rPr lang="en-US" sz="2600"/>
              <a:t>Track Supabase adoption as a signal of interest in managed Postgres/BaaS platforms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C0DEF3E-B4D5-6616-5A9D-7FA2A4A8A7D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91892485"/>
              </p:ext>
            </p:extLst>
          </p:nvPr>
        </p:nvGraphicFramePr>
        <p:xfrm>
          <a:off x="6172200" y="1600200"/>
          <a:ext cx="51816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285075" y="3142210"/>
            <a:ext cx="7068725" cy="2569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/>
              <a:t>&lt;Add the GitHub link to your Cognos dashboard here&gt;</a:t>
            </a: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9517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DASHBOARD TAB 1</a:t>
            </a:r>
          </a:p>
        </p:txBody>
      </p:sp>
      <p:pic>
        <p:nvPicPr>
          <p:cNvPr id="3" name="Picture 2" descr="TAB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530" y="964643"/>
            <a:ext cx="11042301" cy="53256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9178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DASHBOARD TAB 2</a:t>
            </a:r>
          </a:p>
        </p:txBody>
      </p:sp>
      <p:pic>
        <p:nvPicPr>
          <p:cNvPr id="3" name="Picture 2" descr="TAB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53" y="894304"/>
            <a:ext cx="11193863" cy="539596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9750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DASHBOARD TAB 3</a:t>
            </a:r>
          </a:p>
        </p:txBody>
      </p:sp>
      <p:pic>
        <p:nvPicPr>
          <p:cNvPr id="3" name="Picture 2" descr="TAB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1" y="904876"/>
            <a:ext cx="10687258" cy="5405489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495719" y="1406525"/>
            <a:ext cx="4351338" cy="4351338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32E852-CC36-095C-8AE9-892DB5010527}"/>
              </a:ext>
            </a:extLst>
          </p:cNvPr>
          <p:cNvSpPr txBox="1"/>
          <p:nvPr/>
        </p:nvSpPr>
        <p:spPr>
          <a:xfrm>
            <a:off x="5429250" y="1462137"/>
            <a:ext cx="560028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survey indicates that established technologies such as JavaScript, SQL, PostgreSQL, AWS, React, and Node.js continue to dominate the software development ecosystem.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Emerging technologies like Go, Rust, Redis, and </a:t>
            </a:r>
            <a:r>
              <a:rPr lang="en-US" dirty="0" err="1"/>
              <a:t>Supabase</a:t>
            </a:r>
            <a:r>
              <a:rPr lang="en-US" dirty="0"/>
              <a:t> are gaining popularity, suggesting future shifts in developer preferences.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Organizations should invest in training programs focused on both current industry standards and emerging technologies to remain competitive.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demographic data suggests that most developers are early- to mid-career professionals, making continuous learning and upskilling essential.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findings can help businesses make informed decisions about hiring, technology adoption, and long-term infrastructure planning.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Implications</a:t>
            </a:r>
          </a:p>
          <a:p>
            <a:pPr marL="0" indent="0">
              <a:buNone/>
            </a:pPr>
            <a:r>
              <a:rPr lang="en-US" sz="2400"/>
              <a:t>Prioritize training budgets toward JavaScript/TypeScript, Go, and Rust</a:t>
            </a:r>
          </a:p>
          <a:p>
            <a:pPr marL="0" indent="0">
              <a:buNone/>
            </a:pPr>
            <a:r>
              <a:rPr lang="en-US" sz="2400"/>
              <a:t>Standardize on PostgreSQL with Redis for caching in new architecture decisions</a:t>
            </a:r>
          </a:p>
          <a:p>
            <a:pPr marL="0" indent="0">
              <a:buNone/>
            </a:pPr>
            <a:r>
              <a:rPr lang="en-US" sz="2400"/>
              <a:t>Continue investing in AWS-based infrastructure and React/Node.js tooling</a:t>
            </a:r>
          </a:p>
          <a:p>
            <a:pPr marL="0" indent="0">
              <a:buNone/>
            </a:pPr>
            <a:r>
              <a:rPr lang="en-US" sz="2400"/>
              <a:t>Tailor hiring and onboarding materials to early/mid-career developers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BCFA5D9-3421-D3F0-C411-51B4D997F17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04036000"/>
              </p:ext>
            </p:extLst>
          </p:nvPr>
        </p:nvGraphicFramePr>
        <p:xfrm>
          <a:off x="6172200" y="1600200"/>
          <a:ext cx="51816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i="0" kern="1200"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rPr>
              <a:t>CONCLUSION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43000" y="1600200"/>
            <a:ext cx="4572000" cy="4572000"/>
          </a:xfrm>
          <a:prstGeom prst="rect">
            <a:avLst/>
          </a:prstGeom>
          <a:noFill/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6172200" y="1600200"/>
            <a:ext cx="51816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/>
              <a:t>JavaScript, SQL, and PostgreSQL dominate current developer technology usage</a:t>
            </a:r>
          </a:p>
          <a:p>
            <a:r>
              <a:rPr lang="en-US" sz="2400"/>
              <a:t>Go, Rust, Redis, and Supabase are the technologies to watch for future adoption</a:t>
            </a:r>
          </a:p>
          <a:p>
            <a:r>
              <a:rPr lang="en-US" sz="2400"/>
              <a:t>AWS and the React/Node.js ecosystem show the strongest platform and framework loyalty</a:t>
            </a:r>
          </a:p>
          <a:p>
            <a:r>
              <a:rPr lang="en-US" sz="2400"/>
              <a:t>These insights can guide training, hiring, and technology-stack decisions going forward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E40FF55-AE57-CB43-454D-CEFBE080CE8E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700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Additional charts from the analysis: cloud platform usage and web framework usage, current vs. future interest.</a:t>
            </a:r>
            <a:endParaRPr lang="en-US" dirty="0"/>
          </a:p>
        </p:txBody>
      </p:sp>
      <p:pic>
        <p:nvPicPr>
          <p:cNvPr id="11" name="Picture 10" descr="platform_curr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89" y="1507253"/>
            <a:ext cx="4172502" cy="2818941"/>
          </a:xfrm>
          <a:prstGeom prst="rect">
            <a:avLst/>
          </a:prstGeom>
        </p:spPr>
      </p:pic>
      <p:pic>
        <p:nvPicPr>
          <p:cNvPr id="12" name="Picture 11" descr="webframe_cur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702" y="2305278"/>
            <a:ext cx="6809509" cy="404183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F79416-0AFB-FC80-07E8-3CF2B4E7E798}"/>
              </a:ext>
            </a:extLst>
          </p:cNvPr>
          <p:cNvSpPr txBox="1">
            <a:spLocks/>
          </p:cNvSpPr>
          <p:nvPr/>
        </p:nvSpPr>
        <p:spPr>
          <a:xfrm>
            <a:off x="914400" y="2191385"/>
            <a:ext cx="10489276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en-US" sz="2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F8972F-8C4D-D66E-3B57-965BBA56F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324" y="1547447"/>
            <a:ext cx="10865428" cy="46724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248" y="383051"/>
            <a:ext cx="5929053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B1AABA-34AF-B1F5-3C7F-11AEB9E03637}"/>
              </a:ext>
            </a:extLst>
          </p:cNvPr>
          <p:cNvSpPr txBox="1">
            <a:spLocks/>
          </p:cNvSpPr>
          <p:nvPr/>
        </p:nvSpPr>
        <p:spPr>
          <a:xfrm>
            <a:off x="878305" y="2191385"/>
            <a:ext cx="10525371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 dirty="0"/>
              <a:t>.</a:t>
            </a:r>
          </a:p>
        </p:txBody>
      </p:sp>
      <p:pic>
        <p:nvPicPr>
          <p:cNvPr id="3" name="Picture 2" descr="popular_languages_chart.png">
            <a:extLst>
              <a:ext uri="{FF2B5EF4-FFF2-40B4-BE49-F238E27FC236}">
                <a16:creationId xmlns:a16="http://schemas.microsoft.com/office/drawing/2014/main" id="{420ED79C-5143-1D17-CAF6-6B53AAE0D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385" y="1547447"/>
            <a:ext cx="10832123" cy="470262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Props1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http://www.w3.org/XML/1998/namespace"/>
    <ds:schemaRef ds:uri="http://purl.org/dc/terms/"/>
    <ds:schemaRef ds:uri="155be751-a274-42e8-93fb-f39d3b9bccc8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f80a141d-92ca-4d3d-9308-f7e7b1d44ce8"/>
    <ds:schemaRef ds:uri="http://schemas.microsoft.com/office/2006/metadata/properties"/>
    <ds:schemaRef ds:uri="http://schemas.microsoft.com/office/infopath/2007/PartnerControl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IBM PPT Temp Jan 2023</Template>
  <TotalTime>89</TotalTime>
  <Words>830</Words>
  <Application>Microsoft Office PowerPoint</Application>
  <PresentationFormat>Widescreen</PresentationFormat>
  <Paragraphs>99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Helv</vt:lpstr>
      <vt:lpstr>IBM Plex Sans</vt:lpstr>
      <vt:lpstr>IBM Plex Sans SemiBold</vt:lpstr>
      <vt:lpstr>SLIDE_TEMPLATE_skill_network</vt:lpstr>
      <vt:lpstr>Stack Overflow Developer Survey Analysis</vt:lpstr>
      <vt:lpstr>PowerPoint Presentation</vt:lpstr>
      <vt:lpstr>EXECUTIVE SUMMARY</vt:lpstr>
      <vt:lpstr>INTRODUCTION</vt:lpstr>
      <vt:lpstr>METHODOLOGY</vt:lpstr>
      <vt:lpstr>RESULTS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</vt:lpstr>
      <vt:lpstr>DASHBOARD TAB 2</vt:lpstr>
      <vt:lpstr>DASHBOARD TAB 3</vt:lpstr>
      <vt:lpstr>DISCUSSION</vt:lpstr>
      <vt:lpstr>OVERALL FINDINGS &amp; IMPLICATIONS</vt:lpstr>
      <vt:lpstr>CONCLUSION</vt:lpstr>
      <vt:lpstr>APPENDIX</vt:lpstr>
      <vt:lpstr> JOB POSTINGS</vt:lpstr>
      <vt:lpstr>POPULAR LANGUAGES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P25700737-AISHWARYA SHEDGE</cp:lastModifiedBy>
  <cp:revision>3</cp:revision>
  <dcterms:created xsi:type="dcterms:W3CDTF">2024-10-30T05:40:03Z</dcterms:created>
  <dcterms:modified xsi:type="dcterms:W3CDTF">2026-07-25T15:02:59Z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